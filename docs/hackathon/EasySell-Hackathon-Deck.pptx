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5fb6b81-4f07-a83c-2298-8293b5ccbb91}">
          <p14:sldIdLst>
            <p14:sldId id="256"/>
          </p14:sldIdLst>
        </p14:section>
        <p14:section name="Problem" id="{9edd1967-f1e5-a81f-fa55-4a353199dfea}">
          <p14:sldIdLst>
            <p14:sldId id="257"/>
          </p14:sldIdLst>
        </p14:section>
        <p14:section name="Solution" id="{f001c1ca-589a-5432-18b5-08136d46f4fe}">
          <p14:sldIdLst>
            <p14:sldId id="258"/>
            <p14:sldId id="259"/>
            <p14:sldId id="260"/>
            <p14:sldId id="261"/>
          </p14:sldIdLst>
        </p14:section>
        <p14:section name="How it works" id="{1f937bce-4085-b9d7-7059-bbaa1de48c8c}">
          <p14:sldIdLst>
            <p14:sldId id="262"/>
          </p14:sldIdLst>
        </p14:section>
        <p14:section name="Business plan" id="{fe823c77-b231-5767-c992-c74607db6506}">
          <p14:sldIdLst>
            <p14:sldId id="263"/>
            <p14:sldId id="264"/>
          </p14:sldIdLst>
        </p14:section>
        <p14:section name="Close" id="{7effda2b-1d2c-ef26-7655-21a4c77d1851}">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FFFFFF"/>
                </a:solidFill>
                <a:latin typeface="+mn-lt"/>
              </a:defRPr>
            </a:pPr>
            <a:r>
              <a:rPr sz="1300" b="0" i="0" u="none" strike="noStrike">
                <a:solidFill>
                  <a:srgbClr val="FFFFFF"/>
                </a:solidFill>
                <a:latin typeface="+mn-lt"/>
              </a:rPr>
              <a:t>Revenue, US$ thousands (500 → 5,000 → 25,000 paying shops)</a:t>
            </a:r>
          </a:p>
        </c:rich>
      </c:tx>
      <c:layout/>
      <c:overlay val="0"/>
    </c:title>
    <c:autoTitleDeleted val="0"/>
    <c:plotArea>
      <c:layout/>
      <c:barChart>
        <c:barDir val="col"/>
        <c:grouping val="clustered"/>
        <c:varyColors val="0"/>
        <c:ser>
          <c:idx val="0"/>
          <c:order val="0"/>
          <c:tx>
            <c:strRef>
              <c:f>Sheet1!$B$1</c:f>
              <c:strCache>
                <c:ptCount val="1"/>
                <c:pt idx="0">
                  <c:v>Revenue (US$ thousands)</c:v>
                </c:pt>
              </c:strCache>
            </c:strRef>
          </c:tx>
          <c:spPr>
            <a:solidFill>
              <a:srgbClr val="4F8BFF"/>
            </a:solidFill>
            <a:effectLst/>
          </c:spPr>
          <c:invertIfNegative val="0"/>
          <c:dLbls>
            <c:numFmt formatCode="#,##0.0" sourceLinked="0"/>
            <c:txPr>
              <a:bodyPr/>
              <a:lstStyle/>
              <a:p>
                <a:pPr>
                  <a:defRPr b="0" i="0" strike="noStrike" sz="13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7.5</c:v>
                </c:pt>
                <c:pt idx="1">
                  <c:v>87.5</c:v>
                </c:pt>
                <c:pt idx="2">
                  <c:v>490</c:v>
                </c:pt>
              </c:numCache>
            </c:numRef>
          </c:val>
        </c:ser>
        <c:dLbls>
          <c:numFmt formatCode="#,##0.0" sourceLinked="0"/>
          <c:txPr>
            <a:bodyPr/>
            <a:lstStyle/>
            <a:p>
              <a:pPr>
                <a:defRPr b="0" i="0" strike="noStrike" sz="1300" u="none">
                  <a:solidFill>
                    <a:srgbClr val="FFFFF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B4BEDF"/>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judges. We are [Team name], and this is EasySell, our entry for Topic E, the SME Finance Copilot. EasySell is an AI finance copilot for the small neighbourhood shops that sell most everyday goods in emerging markets: kiranas, warungs, sari-sari stores, dukas and corner shops. The shopkeeper sells by speaking or pointing the camera, and EasySell quietly turns every sale into real numbers: profit, cash flow and customer credit. Then it warns the owner before cash runs out and shows which loans the shop is ready for. What you see on the right is a live screenshot from the working app. In the next nine minutes: the problem, our solution, how it works, and the business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Across the six markets we sized, from India and Indonesia to Nigeria and Mexico, there are 21 to 26 million neighbourhood shops. Most run on memory and a paper notebook. Owners rarely know their real profit, how much cash is tied up in stock, or how much customers owe them. Cash problems show up too late: credit piles up, restocking drains the drawer, and the owner only notices when there is no money for the next delivery. And without records, a shop cannot prove it is creditworthy. That is part of a 5.7 trillion dollar financing gap for small businesses in emerging economies, a third of it for women-owned businesses. Existing apps need typing at a busy counter, so most get abandoned.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works in four steps. One: sell. The owner speaks the sale or points the camera at products, and Gemini fills the cart. Nothing is saved until the owner confirms. Two: track. Every sale updates stock, profit and customer credit together, in one database transaction, so the books always add up. Three: warn. Our Money health feature watches cash coming in and going out and flags problems early. Four: finance. EasySell matches the shop to the kinds of loans it is ready for, using its own sales history, and explains why. One principle runs through all of it: rules decide, AI explains. The numbers come from the shop's records; AI only puts them into plain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the data real: selling has to be faster than writing in a notebook. With voice sale, the owner just says what was sold, in their own words, and Gemini turns it into cart lines. With camera scan, they point the phone at products and the AI matches them to the shop's own product list. Checkout records how each sale was paid: cash, digital or credit. Every sale is saved in one safe step, and a lost network reply can never record the same sale twice. On top of that sits financial analysis: revenue, profit, margin, top sellers and a searchable sales history, which you can see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health is our cash-flow management feature. Every week it shows the owner money in, which is cash and digital sales plus credit collected, money out, which is restocking, and the net. Then it raises four kinds of warnings: a customer more than 30 days late, restocks costing more than the money that came in, credit owed rising more than 20 percent in a week, and sales falling more than 25 percent. These thresholds are fixed rules, so a warning is always explainable. With one tap, Gemini turns the numbers into a few plain tips in the owner's own language, like asking customers with old balances to pay this week. It only runs on tap and is cached for the day, at about a fifth of a cent per tip.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financing-option matching. EasySell checks four example loan types, from small to large, against the shop's own last 90 days: how long it has been trading, how many weeks it made sales, its profit margin, how much of its sales are digital, and how much credit customers owe. Each option says Fits you, with the reason and a rough amount, or Not yet, with what to do to qualify, like keep trading two more months. These are example loan types, not real offers yet; real lender partners are on our roadmap. Together with Money health and the dashboard, this covers all three parts of Topic E: financing matching, cash-flow management with alerts, and business financial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it works, and why a shopkeeper can trust it with their money. The Flutter app talks to two things. For AI, it calls our server functions, which hold the Gemini key, so no secret key ever ships in the app. For money, every sale goes into the database in one transaction: the sale and the stock change succeed together or not at all, prices are frozen on each sale, and a lost network reply can never record the same sale twice. Row Level Security means each shop only ever sees its own data. And the owner confirms every AI result before it is saved. This is a working app, not a mock-up: 707 automated tests pass, and our security review found no exploitable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business plan. The market: across six markets we sized there are over 21 million neighbourhood shops; at 30 dollars a year that is a 630 million dollar subscription market, before any finance revenue. Our six target markets are worth 170 to 250 million dollars a year, and our year-three goal of 25,000 paying shops is under half a percent of that. We start in Bangladesh, our home market, where a national QR-payment push is moving shops online. In year two we add the Philippines and Kenya, then Nigeria, Indonesia and Mexico. India is the largest market but crowded, so we would enter through a partner. The big lesson from competitors: apps that only did bookkeeping, like Kippa and BukuKas, failed. Our revenue path is finance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make money. The free plan includes everything that builds a loan-ready record: the books, the credit book, Money health and financing matching. Those features are rule-based, so they cost us almost nothing to run, and every free shop enters our financing funnel. The Smart plan, at 2.99 dollars a month, unlocks AI voice and camera selling and AI advice, the only features that cost us per use. From year two, lenders pay us a referral fee when a matched shop takes a loan, with the owner's consent. Each paying shop leaves us about 1.48 dollars a month, a 59 percent margin. We plan to grow from 500 to 25,000 paying shops in three years and reach monthly profit by the end of year three. We are raising 100,000 dollars pre-seed.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next. First, Ask EasySell: owners asking money questions in their own language, like can I afford fifty bags of rice this week. Second, real lender partners, so a Fits you match becomes an actual loan application, with the owner's consent. Third, a shareable credit profile: a one-page sales and repayment record that a shopkeeper can show any lender. Fourth, offline selling with automatic sync, for shops with patchy internet. And fifth, new languages and currencies as we enter new markets. EasySell lets a shopkeeper speak the sale, see the money, and get ready for finance. Thank you. We are [Team name], and we would love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asySell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583680" cy="1188720"/>
          </a:xfrm>
          <a:prstGeom prst="rect">
            <a:avLst/>
          </a:prstGeom>
          <a:noFill/>
          <a:ln/>
        </p:spPr>
        <p:txBody>
          <a:bodyPr wrap="square" rtlCol="0"/>
          <a:lstStyle>
            <a:lvl1pPr algn="l" indent="0" marL="0">
              <a:buNone/>
              <a:defRPr lang="en-US" sz="6600" b="1" dirty="0">
                <a:solidFill>
                  <a:schemeClr val="bg1"/>
                </a:solidFill>
              </a:defRPr>
            </a:lvl1pPr>
          </a:lstStyle>
          <a:p>
            <a:pPr algn="l" indent="0" marL="0">
              <a:buNone/>
            </a:pPr>
            <a:endParaRPr lang="en-US" sz="6600" dirty="0"/>
          </a:p>
        </p:txBody>
      </p:sp>
      <p:sp>
        <p:nvSpPr>
          <p:cNvPr id="3" name="Text 0"/>
          <p:cNvSpPr/>
          <p:nvPr>
            <p:ph idx="101" type="body" hasCustomPrompt="1"/>
          </p:nvPr>
        </p:nvSpPr>
        <p:spPr>
          <a:xfrm>
            <a:off x="640080" y="3063240"/>
            <a:ext cx="6583680" cy="1097280"/>
          </a:xfrm>
          <a:prstGeom prst="rect">
            <a:avLst/>
          </a:prstGeom>
          <a:noFill/>
          <a:ln/>
        </p:spPr>
        <p:txBody>
          <a:bodyPr wrap="square" rtlCol="0"/>
          <a:lstStyle>
            <a:lvl1pPr algn="l" indent="0" marL="0">
              <a:buNone/>
              <a:defRPr lang="en-US" sz="2600" dirty="0">
                <a:solidFill>
                  <a:schemeClr val="bg2"/>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asySell 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EasySell · Topic E: SME Finance Copilot</a:t>
            </a:r>
            <a:endParaRPr lang="en-US" sz="10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640080" y="1325880"/>
            <a:ext cx="6400800" cy="365760"/>
          </a:xfrm>
          <a:prstGeom prst="rect">
            <a:avLst/>
          </a:prstGeom>
          <a:noFill/>
          <a:ln/>
        </p:spPr>
        <p:txBody>
          <a:bodyPr wrap="square" lIns="0" tIns="0" rIns="0" bIns="0" rtlCol="0" anchor="t"/>
          <a:lstStyle/>
          <a:p>
            <a:pPr indent="0" marL="0">
              <a:buNone/>
            </a:pPr>
            <a:r>
              <a:rPr lang="en-US" sz="1400" b="1" spc="300" kern="0" dirty="0">
                <a:solidFill>
                  <a:schemeClr val="accent1"/>
                </a:solidFill>
              </a:rPr>
              <a:t>TOPIC E  ·  SME FINANCE COPILOT</a:t>
            </a:r>
            <a:endParaRPr lang="en-US" sz="1400" dirty="0"/>
          </a:p>
        </p:txBody>
      </p:sp>
      <p:sp>
        <p:nvSpPr>
          <p:cNvPr id="3" name="Text 0"/>
          <p:cNvSpPr/>
          <p:nvPr>
            <p:ph idx="100" type="title" hasCustomPrompt="1"/>
          </p:nvPr>
        </p:nvSpPr>
        <p:spPr>
          <a:xfrm>
            <a:off x="640080" y="1828800"/>
            <a:ext cx="6583680" cy="1188720"/>
          </a:xfrm>
          <a:prstGeom prst="rect">
            <a:avLst/>
          </a:prstGeom>
          <a:noFill/>
          <a:ln/>
        </p:spPr>
        <p:txBody>
          <a:bodyPr wrap="square" lIns="0" tIns="0" rIns="0" bIns="0" rtlCol="0" anchor="ctr"/>
          <a:lstStyle/>
          <a:p>
            <a:pPr algn="l" indent="0" marL="0">
              <a:buNone/>
            </a:pPr>
            <a:r>
              <a:rPr lang="en-US" sz="6600" b="1" dirty="0">
                <a:solidFill>
                  <a:schemeClr val="bg1"/>
                </a:solidFill>
              </a:rPr>
              <a:t>EasySell</a:t>
            </a:r>
            <a:endParaRPr lang="en-US" sz="6600" dirty="0"/>
          </a:p>
        </p:txBody>
      </p:sp>
      <p:sp>
        <p:nvSpPr>
          <p:cNvPr id="4" name="Text 0"/>
          <p:cNvSpPr/>
          <p:nvPr>
            <p:ph idx="101" type="body" hasCustomPrompt="1"/>
          </p:nvPr>
        </p:nvSpPr>
        <p:spPr>
          <a:xfrm>
            <a:off x="640080" y="3063240"/>
            <a:ext cx="6583680" cy="1097280"/>
          </a:xfrm>
          <a:prstGeom prst="rect">
            <a:avLst/>
          </a:prstGeom>
          <a:noFill/>
          <a:ln/>
        </p:spPr>
        <p:txBody>
          <a:bodyPr wrap="square" lIns="0" tIns="0" rIns="0" bIns="0" rtlCol="0" anchor="t"/>
          <a:lstStyle/>
          <a:p>
            <a:pPr algn="l" indent="0" marL="0">
              <a:buNone/>
            </a:pPr>
            <a:r>
              <a:rPr lang="en-US" sz="2600" dirty="0">
                <a:solidFill>
                  <a:schemeClr val="bg2"/>
                </a:solidFill>
              </a:rPr>
              <a:t>The AI finance copilot for the world's neighbourhood shops</a:t>
            </a:r>
            <a:endParaRPr lang="en-US" sz="2600" dirty="0"/>
          </a:p>
        </p:txBody>
      </p:sp>
      <p:sp>
        <p:nvSpPr>
          <p:cNvPr id="5" name="text-2"/>
          <p:cNvSpPr txBox="1"/>
          <p:nvPr/>
        </p:nvSpPr>
        <p:spPr>
          <a:xfrm>
            <a:off x="640080" y="4343400"/>
            <a:ext cx="6400800" cy="822960"/>
          </a:xfrm>
          <a:prstGeom prst="rect">
            <a:avLst/>
          </a:prstGeom>
          <a:noFill/>
          <a:ln/>
        </p:spPr>
        <p:txBody>
          <a:bodyPr wrap="square" lIns="0" tIns="0" rIns="0" bIns="0" rtlCol="0" anchor="t"/>
          <a:lstStyle/>
          <a:p>
            <a:pPr indent="0" marL="0">
              <a:buNone/>
            </a:pPr>
            <a:r>
              <a:rPr lang="en-US" sz="1600" dirty="0">
                <a:solidFill>
                  <a:schemeClr val="bg2"/>
                </a:solidFill>
              </a:rPr>
              <a:t>Sell by voice or camera. See every sale add up. Get warned before cash runs out. Get matched to finance.</a:t>
            </a:r>
            <a:endParaRPr lang="en-US" sz="1600" dirty="0"/>
          </a:p>
        </p:txBody>
      </p:sp>
      <p:sp>
        <p:nvSpPr>
          <p:cNvPr id="6" name="text-3"/>
          <p:cNvSpPr txBox="1"/>
          <p:nvPr/>
        </p:nvSpPr>
        <p:spPr>
          <a:xfrm>
            <a:off x="640080" y="5669280"/>
            <a:ext cx="4572000" cy="365760"/>
          </a:xfrm>
          <a:prstGeom prst="rect">
            <a:avLst/>
          </a:prstGeom>
          <a:noFill/>
          <a:ln/>
        </p:spPr>
        <p:txBody>
          <a:bodyPr wrap="square" lIns="0" tIns="0" rIns="0" bIns="0" rtlCol="0" anchor="t"/>
          <a:lstStyle/>
          <a:p>
            <a:pPr indent="0" marL="0">
              <a:buNone/>
            </a:pPr>
            <a:r>
              <a:rPr lang="en-US" sz="1600" b="1" dirty="0">
                <a:solidFill>
                  <a:schemeClr val="bg1"/>
                </a:solidFill>
              </a:rPr>
              <a:t>[Team name]</a:t>
            </a:r>
            <a:endParaRPr lang="en-US" sz="1600" dirty="0"/>
          </a:p>
        </p:txBody>
      </p:sp>
      <p:sp>
        <p:nvSpPr>
          <p:cNvPr id="7" name="frame-4"/>
          <p:cNvSpPr/>
          <p:nvPr/>
        </p:nvSpPr>
        <p:spPr>
          <a:xfrm>
            <a:off x="7744968" y="1344168"/>
            <a:ext cx="3895344" cy="3617637"/>
          </a:xfrm>
          <a:prstGeom prst="roundRect">
            <a:avLst>
              <a:gd name="adj" fmla="val 4550"/>
            </a:avLst>
          </a:prstGeom>
          <a:solidFill>
            <a:schemeClr val="tx2"/>
          </a:solidFill>
          <a:ln w="19050">
            <a:solidFill>
              <a:schemeClr val="accent1"/>
            </a:solidFill>
            <a:prstDash val="solid"/>
          </a:ln>
        </p:spPr>
      </p:sp>
      <p:pic>
        <p:nvPicPr>
          <p:cNvPr id="8" name="screenshot-money-health" descr="C:\Users\User\AppData\Local\Temp\claude\d--ClaudeCodeProjects-MobileApp\5a1abb58-9612-4bef-aed6-5d1b8630541e\scratchpad\deck\shots\card.png">    </p:cNvPr>
          <p:cNvPicPr>
            <a:picLocks noChangeAspect="1"/>
          </p:cNvPicPr>
          <p:nvPr/>
        </p:nvPicPr>
        <p:blipFill>
          <a:blip r:embed="rId1"/>
          <a:stretch>
            <a:fillRect/>
          </a:stretch>
        </p:blipFill>
        <p:spPr>
          <a:xfrm>
            <a:off x="7818120" y="1417320"/>
            <a:ext cx="3749040" cy="3471333"/>
          </a:xfrm>
          <a:prstGeom prst="rect">
            <a:avLst/>
          </a:prstGeom>
        </p:spPr>
      </p:pic>
      <p:sp>
        <p:nvSpPr>
          <p:cNvPr id="9" name="text-5"/>
          <p:cNvSpPr txBox="1"/>
          <p:nvPr/>
        </p:nvSpPr>
        <p:spPr>
          <a:xfrm>
            <a:off x="7818120" y="5074920"/>
            <a:ext cx="3749040" cy="274320"/>
          </a:xfrm>
          <a:prstGeom prst="rect">
            <a:avLst/>
          </a:prstGeom>
          <a:noFill/>
          <a:ln/>
        </p:spPr>
        <p:txBody>
          <a:bodyPr wrap="square" lIns="0" tIns="0" rIns="0" bIns="0" rtlCol="0" anchor="t"/>
          <a:lstStyle/>
          <a:p>
            <a:pPr algn="ctr" indent="0" marL="0">
              <a:buNone/>
            </a:pPr>
            <a:r>
              <a:rPr lang="en-US" sz="1100" dirty="0">
                <a:solidFill>
                  <a:schemeClr val="bg2"/>
                </a:solidFill>
              </a:rPr>
              <a:t>Live screenshot: the Money health card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Millions of shops run on memory and a paper notebook</a:t>
            </a:r>
            <a:endParaRPr lang="en-US" sz="3200" dirty="0"/>
          </a:p>
        </p:txBody>
      </p:sp>
      <p:sp>
        <p:nvSpPr>
          <p:cNvPr id="3" name="card-6"/>
          <p:cNvSpPr/>
          <p:nvPr/>
        </p:nvSpPr>
        <p:spPr>
          <a:xfrm>
            <a:off x="548640" y="1325880"/>
            <a:ext cx="3520440" cy="1508760"/>
          </a:xfrm>
          <a:prstGeom prst="roundRect">
            <a:avLst>
              <a:gd name="adj" fmla="val 7273"/>
            </a:avLst>
          </a:prstGeom>
          <a:solidFill>
            <a:schemeClr val="tx2"/>
          </a:solidFill>
          <a:ln w="12700">
            <a:solidFill>
              <a:schemeClr val="accent6"/>
            </a:solidFill>
            <a:prstDash val="solid"/>
          </a:ln>
        </p:spPr>
      </p:sp>
      <p:sp>
        <p:nvSpPr>
          <p:cNvPr id="4" name="text-7"/>
          <p:cNvSpPr txBox="1"/>
          <p:nvPr/>
        </p:nvSpPr>
        <p:spPr>
          <a:xfrm>
            <a:off x="822960" y="1463040"/>
            <a:ext cx="3017520" cy="731520"/>
          </a:xfrm>
          <a:prstGeom prst="rect">
            <a:avLst/>
          </a:prstGeom>
          <a:noFill/>
          <a:ln/>
        </p:spPr>
        <p:txBody>
          <a:bodyPr wrap="square" lIns="0" tIns="0" rIns="0" bIns="0" rtlCol="0" anchor="t"/>
          <a:lstStyle/>
          <a:p>
            <a:pPr indent="0" marL="0">
              <a:buNone/>
            </a:pPr>
            <a:r>
              <a:rPr lang="en-US" sz="4000" b="1" dirty="0">
                <a:solidFill>
                  <a:schemeClr val="accent1"/>
                </a:solidFill>
              </a:rPr>
              <a:t>21–26M</a:t>
            </a:r>
            <a:endParaRPr lang="en-US" sz="4000" dirty="0"/>
          </a:p>
        </p:txBody>
      </p:sp>
      <p:sp>
        <p:nvSpPr>
          <p:cNvPr id="5" name="text-8"/>
          <p:cNvSpPr txBox="1"/>
          <p:nvPr/>
        </p:nvSpPr>
        <p:spPr>
          <a:xfrm>
            <a:off x="822960" y="2194560"/>
            <a:ext cx="3017520" cy="548640"/>
          </a:xfrm>
          <a:prstGeom prst="rect">
            <a:avLst/>
          </a:prstGeom>
          <a:noFill/>
          <a:ln/>
        </p:spPr>
        <p:txBody>
          <a:bodyPr wrap="square" lIns="0" tIns="0" rIns="0" bIns="0" rtlCol="0" anchor="t"/>
          <a:lstStyle/>
          <a:p>
            <a:pPr indent="0" marL="0">
              <a:buNone/>
            </a:pPr>
            <a:r>
              <a:rPr lang="en-US" sz="1400" dirty="0">
                <a:solidFill>
                  <a:schemeClr val="bg2"/>
                </a:solidFill>
              </a:rPr>
              <a:t>neighbourhood shops in the six markets we sized</a:t>
            </a:r>
            <a:endParaRPr lang="en-US" sz="1400" dirty="0"/>
          </a:p>
        </p:txBody>
      </p:sp>
      <p:sp>
        <p:nvSpPr>
          <p:cNvPr id="6" name="card-9"/>
          <p:cNvSpPr/>
          <p:nvPr/>
        </p:nvSpPr>
        <p:spPr>
          <a:xfrm>
            <a:off x="4297680" y="1325880"/>
            <a:ext cx="3520440" cy="1508760"/>
          </a:xfrm>
          <a:prstGeom prst="roundRect">
            <a:avLst>
              <a:gd name="adj" fmla="val 7273"/>
            </a:avLst>
          </a:prstGeom>
          <a:solidFill>
            <a:schemeClr val="tx2"/>
          </a:solidFill>
          <a:ln w="12700">
            <a:solidFill>
              <a:schemeClr val="accent6"/>
            </a:solidFill>
            <a:prstDash val="solid"/>
          </a:ln>
        </p:spPr>
      </p:sp>
      <p:sp>
        <p:nvSpPr>
          <p:cNvPr id="7" name="text-10"/>
          <p:cNvSpPr txBox="1"/>
          <p:nvPr/>
        </p:nvSpPr>
        <p:spPr>
          <a:xfrm>
            <a:off x="4572000" y="1463040"/>
            <a:ext cx="3017520" cy="731520"/>
          </a:xfrm>
          <a:prstGeom prst="rect">
            <a:avLst/>
          </a:prstGeom>
          <a:noFill/>
          <a:ln/>
        </p:spPr>
        <p:txBody>
          <a:bodyPr wrap="square" lIns="0" tIns="0" rIns="0" bIns="0" rtlCol="0" anchor="t"/>
          <a:lstStyle/>
          <a:p>
            <a:pPr indent="0" marL="0">
              <a:buNone/>
            </a:pPr>
            <a:r>
              <a:rPr lang="en-US" sz="4000" b="1" dirty="0">
                <a:solidFill>
                  <a:schemeClr val="accent2"/>
                </a:solidFill>
              </a:rPr>
              <a:t>US$5.7T</a:t>
            </a:r>
            <a:endParaRPr lang="en-US" sz="4000" dirty="0"/>
          </a:p>
        </p:txBody>
      </p:sp>
      <p:sp>
        <p:nvSpPr>
          <p:cNvPr id="8" name="text-11"/>
          <p:cNvSpPr txBox="1"/>
          <p:nvPr/>
        </p:nvSpPr>
        <p:spPr>
          <a:xfrm>
            <a:off x="4572000" y="2194560"/>
            <a:ext cx="3017520" cy="548640"/>
          </a:xfrm>
          <a:prstGeom prst="rect">
            <a:avLst/>
          </a:prstGeom>
          <a:noFill/>
          <a:ln/>
        </p:spPr>
        <p:txBody>
          <a:bodyPr wrap="square" lIns="0" tIns="0" rIns="0" bIns="0" rtlCol="0" anchor="t"/>
          <a:lstStyle/>
          <a:p>
            <a:pPr indent="0" marL="0">
              <a:buNone/>
            </a:pPr>
            <a:r>
              <a:rPr lang="en-US" sz="1400" dirty="0">
                <a:solidFill>
                  <a:schemeClr val="bg2"/>
                </a:solidFill>
              </a:rPr>
              <a:t>small-business finance gap in emerging economies</a:t>
            </a:r>
            <a:endParaRPr lang="en-US" sz="1400" dirty="0"/>
          </a:p>
        </p:txBody>
      </p:sp>
      <p:sp>
        <p:nvSpPr>
          <p:cNvPr id="9" name="card-12"/>
          <p:cNvSpPr/>
          <p:nvPr/>
        </p:nvSpPr>
        <p:spPr>
          <a:xfrm>
            <a:off x="8046720" y="1325880"/>
            <a:ext cx="3520440" cy="1508760"/>
          </a:xfrm>
          <a:prstGeom prst="roundRect">
            <a:avLst>
              <a:gd name="adj" fmla="val 7273"/>
            </a:avLst>
          </a:prstGeom>
          <a:solidFill>
            <a:schemeClr val="tx2"/>
          </a:solidFill>
          <a:ln w="12700">
            <a:solidFill>
              <a:schemeClr val="accent6"/>
            </a:solidFill>
            <a:prstDash val="solid"/>
          </a:ln>
        </p:spPr>
      </p:sp>
      <p:sp>
        <p:nvSpPr>
          <p:cNvPr id="10" name="text-13"/>
          <p:cNvSpPr txBox="1"/>
          <p:nvPr/>
        </p:nvSpPr>
        <p:spPr>
          <a:xfrm>
            <a:off x="8321040" y="1463040"/>
            <a:ext cx="3017520" cy="731520"/>
          </a:xfrm>
          <a:prstGeom prst="rect">
            <a:avLst/>
          </a:prstGeom>
          <a:noFill/>
          <a:ln/>
        </p:spPr>
        <p:txBody>
          <a:bodyPr wrap="square" lIns="0" tIns="0" rIns="0" bIns="0" rtlCol="0" anchor="t"/>
          <a:lstStyle/>
          <a:p>
            <a:pPr indent="0" marL="0">
              <a:buNone/>
            </a:pPr>
            <a:r>
              <a:rPr lang="en-US" sz="4000" b="1" dirty="0">
                <a:solidFill>
                  <a:schemeClr val="accent3"/>
                </a:solidFill>
              </a:rPr>
              <a:t>34%</a:t>
            </a:r>
            <a:endParaRPr lang="en-US" sz="4000" dirty="0"/>
          </a:p>
        </p:txBody>
      </p:sp>
      <p:sp>
        <p:nvSpPr>
          <p:cNvPr id="11" name="text-14"/>
          <p:cNvSpPr txBox="1"/>
          <p:nvPr/>
        </p:nvSpPr>
        <p:spPr>
          <a:xfrm>
            <a:off x="8321040" y="2194560"/>
            <a:ext cx="3017520" cy="548640"/>
          </a:xfrm>
          <a:prstGeom prst="rect">
            <a:avLst/>
          </a:prstGeom>
          <a:noFill/>
          <a:ln/>
        </p:spPr>
        <p:txBody>
          <a:bodyPr wrap="square" lIns="0" tIns="0" rIns="0" bIns="0" rtlCol="0" anchor="t"/>
          <a:lstStyle/>
          <a:p>
            <a:pPr indent="0" marL="0">
              <a:buNone/>
            </a:pPr>
            <a:r>
              <a:rPr lang="en-US" sz="1400" dirty="0">
                <a:solidFill>
                  <a:schemeClr val="bg2"/>
                </a:solidFill>
              </a:rPr>
              <a:t>of that gap is women-owned businesses (US$1.9T)</a:t>
            </a:r>
            <a:endParaRPr lang="en-US" sz="1400" dirty="0"/>
          </a:p>
        </p:txBody>
      </p:sp>
      <p:sp>
        <p:nvSpPr>
          <p:cNvPr id="12" name="icon-bg-15"/>
          <p:cNvSpPr/>
          <p:nvPr/>
        </p:nvSpPr>
        <p:spPr>
          <a:xfrm>
            <a:off x="548640" y="3154680"/>
            <a:ext cx="685800" cy="685800"/>
          </a:xfrm>
          <a:prstGeom prst="ellipse">
            <a:avLst/>
          </a:prstGeom>
          <a:solidFill>
            <a:schemeClr val="accent1"/>
          </a:solidFill>
          <a:ln w="12700">
            <a:solidFill>
              <a:schemeClr val="accent1"/>
            </a:solidFill>
            <a:prstDash val="solid"/>
          </a:ln>
        </p:spPr>
      </p:sp>
      <p:pic>
        <p:nvPicPr>
          <p:cNvPr id="13" name="icon-16" descr="preencoded.png">    </p:cNvPr>
          <p:cNvPicPr>
            <a:picLocks noChangeAspect="1"/>
          </p:cNvPicPr>
          <p:nvPr/>
        </p:nvPicPr>
        <p:blipFill>
          <a:blip r:embed="rId1"/>
          <a:stretch>
            <a:fillRect/>
          </a:stretch>
        </p:blipFill>
        <p:spPr>
          <a:xfrm>
            <a:off x="699516" y="3305556"/>
            <a:ext cx="384048" cy="384048"/>
          </a:xfrm>
          <a:prstGeom prst="rect">
            <a:avLst/>
          </a:prstGeom>
        </p:spPr>
      </p:pic>
      <p:sp>
        <p:nvSpPr>
          <p:cNvPr id="14" name="text-17"/>
          <p:cNvSpPr txBox="1"/>
          <p:nvPr/>
        </p:nvSpPr>
        <p:spPr>
          <a:xfrm>
            <a:off x="1463040" y="3136392"/>
            <a:ext cx="4480560" cy="365760"/>
          </a:xfrm>
          <a:prstGeom prst="rect">
            <a:avLst/>
          </a:prstGeom>
          <a:noFill/>
          <a:ln/>
        </p:spPr>
        <p:txBody>
          <a:bodyPr wrap="square" lIns="0" tIns="0" rIns="0" bIns="0" rtlCol="0" anchor="t"/>
          <a:lstStyle/>
          <a:p>
            <a:pPr indent="0" marL="0">
              <a:buNone/>
            </a:pPr>
            <a:r>
              <a:rPr lang="en-US" sz="1900" b="1" dirty="0">
                <a:solidFill>
                  <a:schemeClr val="bg1"/>
                </a:solidFill>
              </a:rPr>
              <a:t>No real numbers</a:t>
            </a:r>
            <a:endParaRPr lang="en-US" sz="1900" dirty="0"/>
          </a:p>
        </p:txBody>
      </p:sp>
      <p:sp>
        <p:nvSpPr>
          <p:cNvPr id="15" name="text-18"/>
          <p:cNvSpPr txBox="1"/>
          <p:nvPr/>
        </p:nvSpPr>
        <p:spPr>
          <a:xfrm>
            <a:off x="1463040" y="3538728"/>
            <a:ext cx="4480560" cy="685800"/>
          </a:xfrm>
          <a:prstGeom prst="rect">
            <a:avLst/>
          </a:prstGeom>
          <a:noFill/>
          <a:ln/>
        </p:spPr>
        <p:txBody>
          <a:bodyPr wrap="square" lIns="0" tIns="0" rIns="0" bIns="0" rtlCol="0" anchor="t"/>
          <a:lstStyle/>
          <a:p>
            <a:pPr indent="0" marL="0">
              <a:buNone/>
            </a:pPr>
            <a:r>
              <a:rPr lang="en-US" sz="1400" dirty="0">
                <a:solidFill>
                  <a:schemeClr val="bg2"/>
                </a:solidFill>
              </a:rPr>
              <a:t>Owners rarely know true profit, cash stuck in stock, or credit owed by customers</a:t>
            </a:r>
            <a:endParaRPr lang="en-US" sz="1400" dirty="0"/>
          </a:p>
        </p:txBody>
      </p:sp>
      <p:sp>
        <p:nvSpPr>
          <p:cNvPr id="16" name="icon-bg-19"/>
          <p:cNvSpPr/>
          <p:nvPr/>
        </p:nvSpPr>
        <p:spPr>
          <a:xfrm>
            <a:off x="6172200" y="3154680"/>
            <a:ext cx="685800" cy="685800"/>
          </a:xfrm>
          <a:prstGeom prst="ellipse">
            <a:avLst/>
          </a:prstGeom>
          <a:solidFill>
            <a:schemeClr val="accent1"/>
          </a:solidFill>
          <a:ln w="12700">
            <a:solidFill>
              <a:schemeClr val="accent1"/>
            </a:solidFill>
            <a:prstDash val="solid"/>
          </a:ln>
        </p:spPr>
      </p:sp>
      <p:pic>
        <p:nvPicPr>
          <p:cNvPr id="17" name="icon-20" descr="preencoded.png">    </p:cNvPr>
          <p:cNvPicPr>
            <a:picLocks noChangeAspect="1"/>
          </p:cNvPicPr>
          <p:nvPr/>
        </p:nvPicPr>
        <p:blipFill>
          <a:blip r:embed="rId2"/>
          <a:stretch>
            <a:fillRect/>
          </a:stretch>
        </p:blipFill>
        <p:spPr>
          <a:xfrm>
            <a:off x="6323076" y="3305556"/>
            <a:ext cx="384048" cy="384048"/>
          </a:xfrm>
          <a:prstGeom prst="rect">
            <a:avLst/>
          </a:prstGeom>
        </p:spPr>
      </p:pic>
      <p:sp>
        <p:nvSpPr>
          <p:cNvPr id="18" name="text-21"/>
          <p:cNvSpPr txBox="1"/>
          <p:nvPr/>
        </p:nvSpPr>
        <p:spPr>
          <a:xfrm>
            <a:off x="7086600" y="3136392"/>
            <a:ext cx="4480560" cy="365760"/>
          </a:xfrm>
          <a:prstGeom prst="rect">
            <a:avLst/>
          </a:prstGeom>
          <a:noFill/>
          <a:ln/>
        </p:spPr>
        <p:txBody>
          <a:bodyPr wrap="square" lIns="0" tIns="0" rIns="0" bIns="0" rtlCol="0" anchor="t"/>
          <a:lstStyle/>
          <a:p>
            <a:pPr indent="0" marL="0">
              <a:buNone/>
            </a:pPr>
            <a:r>
              <a:rPr lang="en-US" sz="1900" b="1" dirty="0">
                <a:solidFill>
                  <a:schemeClr val="bg1"/>
                </a:solidFill>
              </a:rPr>
              <a:t>Cash trouble shows up too late</a:t>
            </a:r>
            <a:endParaRPr lang="en-US" sz="1900" dirty="0"/>
          </a:p>
        </p:txBody>
      </p:sp>
      <p:sp>
        <p:nvSpPr>
          <p:cNvPr id="19" name="text-22"/>
          <p:cNvSpPr txBox="1"/>
          <p:nvPr/>
        </p:nvSpPr>
        <p:spPr>
          <a:xfrm>
            <a:off x="7086600" y="3538728"/>
            <a:ext cx="4480560" cy="685800"/>
          </a:xfrm>
          <a:prstGeom prst="rect">
            <a:avLst/>
          </a:prstGeom>
          <a:noFill/>
          <a:ln/>
        </p:spPr>
        <p:txBody>
          <a:bodyPr wrap="square" lIns="0" tIns="0" rIns="0" bIns="0" rtlCol="0" anchor="t"/>
          <a:lstStyle/>
          <a:p>
            <a:pPr indent="0" marL="0">
              <a:buNone/>
            </a:pPr>
            <a:r>
              <a:rPr lang="en-US" sz="1400" dirty="0">
                <a:solidFill>
                  <a:schemeClr val="bg2"/>
                </a:solidFill>
              </a:rPr>
              <a:t>Unpaid credit piles up and restocking drains the drawer before anyone notices</a:t>
            </a:r>
            <a:endParaRPr lang="en-US" sz="1400" dirty="0"/>
          </a:p>
        </p:txBody>
      </p:sp>
      <p:sp>
        <p:nvSpPr>
          <p:cNvPr id="20" name="icon-bg-23"/>
          <p:cNvSpPr/>
          <p:nvPr/>
        </p:nvSpPr>
        <p:spPr>
          <a:xfrm>
            <a:off x="548640" y="4572000"/>
            <a:ext cx="685800" cy="685800"/>
          </a:xfrm>
          <a:prstGeom prst="ellipse">
            <a:avLst/>
          </a:prstGeom>
          <a:solidFill>
            <a:schemeClr val="accent2"/>
          </a:solidFill>
          <a:ln w="12700">
            <a:solidFill>
              <a:schemeClr val="accent2"/>
            </a:solidFill>
            <a:prstDash val="solid"/>
          </a:ln>
        </p:spPr>
      </p:sp>
      <p:pic>
        <p:nvPicPr>
          <p:cNvPr id="21" name="icon-24" descr="preencoded.png">    </p:cNvPr>
          <p:cNvPicPr>
            <a:picLocks noChangeAspect="1"/>
          </p:cNvPicPr>
          <p:nvPr/>
        </p:nvPicPr>
        <p:blipFill>
          <a:blip r:embed="rId3"/>
          <a:stretch>
            <a:fillRect/>
          </a:stretch>
        </p:blipFill>
        <p:spPr>
          <a:xfrm>
            <a:off x="699516" y="4722876"/>
            <a:ext cx="384048" cy="384048"/>
          </a:xfrm>
          <a:prstGeom prst="rect">
            <a:avLst/>
          </a:prstGeom>
        </p:spPr>
      </p:pic>
      <p:sp>
        <p:nvSpPr>
          <p:cNvPr id="22" name="text-25"/>
          <p:cNvSpPr txBox="1"/>
          <p:nvPr/>
        </p:nvSpPr>
        <p:spPr>
          <a:xfrm>
            <a:off x="1463040" y="4553712"/>
            <a:ext cx="4480560" cy="365760"/>
          </a:xfrm>
          <a:prstGeom prst="rect">
            <a:avLst/>
          </a:prstGeom>
          <a:noFill/>
          <a:ln/>
        </p:spPr>
        <p:txBody>
          <a:bodyPr wrap="square" lIns="0" tIns="0" rIns="0" bIns="0" rtlCol="0" anchor="t"/>
          <a:lstStyle/>
          <a:p>
            <a:pPr indent="0" marL="0">
              <a:buNone/>
            </a:pPr>
            <a:r>
              <a:rPr lang="en-US" sz="1900" b="1" dirty="0">
                <a:solidFill>
                  <a:schemeClr val="bg1"/>
                </a:solidFill>
              </a:rPr>
              <a:t>Locked out of finance</a:t>
            </a:r>
            <a:endParaRPr lang="en-US" sz="1900" dirty="0"/>
          </a:p>
        </p:txBody>
      </p:sp>
      <p:sp>
        <p:nvSpPr>
          <p:cNvPr id="23" name="text-26"/>
          <p:cNvSpPr txBox="1"/>
          <p:nvPr/>
        </p:nvSpPr>
        <p:spPr>
          <a:xfrm>
            <a:off x="1463040" y="4956048"/>
            <a:ext cx="4480560" cy="685800"/>
          </a:xfrm>
          <a:prstGeom prst="rect">
            <a:avLst/>
          </a:prstGeom>
          <a:noFill/>
          <a:ln/>
        </p:spPr>
        <p:txBody>
          <a:bodyPr wrap="square" lIns="0" tIns="0" rIns="0" bIns="0" rtlCol="0" anchor="t"/>
          <a:lstStyle/>
          <a:p>
            <a:pPr indent="0" marL="0">
              <a:buNone/>
            </a:pPr>
            <a:r>
              <a:rPr lang="en-US" sz="1400" dirty="0">
                <a:solidFill>
                  <a:schemeClr val="bg2"/>
                </a:solidFill>
              </a:rPr>
              <a:t>No records means no way to prove the shop is creditworthy</a:t>
            </a:r>
            <a:endParaRPr lang="en-US" sz="1400" dirty="0"/>
          </a:p>
        </p:txBody>
      </p:sp>
      <p:sp>
        <p:nvSpPr>
          <p:cNvPr id="24" name="icon-bg-27"/>
          <p:cNvSpPr/>
          <p:nvPr/>
        </p:nvSpPr>
        <p:spPr>
          <a:xfrm>
            <a:off x="6172200" y="4572000"/>
            <a:ext cx="685800" cy="685800"/>
          </a:xfrm>
          <a:prstGeom prst="ellipse">
            <a:avLst/>
          </a:prstGeom>
          <a:solidFill>
            <a:schemeClr val="accent1"/>
          </a:solidFill>
          <a:ln w="12700">
            <a:solidFill>
              <a:schemeClr val="accent1"/>
            </a:solidFill>
            <a:prstDash val="solid"/>
          </a:ln>
        </p:spPr>
      </p:sp>
      <p:pic>
        <p:nvPicPr>
          <p:cNvPr id="25" name="icon-28" descr="preencoded.png">    </p:cNvPr>
          <p:cNvPicPr>
            <a:picLocks noChangeAspect="1"/>
          </p:cNvPicPr>
          <p:nvPr/>
        </p:nvPicPr>
        <p:blipFill>
          <a:blip r:embed="rId4"/>
          <a:stretch>
            <a:fillRect/>
          </a:stretch>
        </p:blipFill>
        <p:spPr>
          <a:xfrm>
            <a:off x="6323076" y="4722876"/>
            <a:ext cx="384048" cy="384048"/>
          </a:xfrm>
          <a:prstGeom prst="rect">
            <a:avLst/>
          </a:prstGeom>
        </p:spPr>
      </p:pic>
      <p:sp>
        <p:nvSpPr>
          <p:cNvPr id="26" name="text-29"/>
          <p:cNvSpPr txBox="1"/>
          <p:nvPr/>
        </p:nvSpPr>
        <p:spPr>
          <a:xfrm>
            <a:off x="7086600" y="4553712"/>
            <a:ext cx="4480560" cy="365760"/>
          </a:xfrm>
          <a:prstGeom prst="rect">
            <a:avLst/>
          </a:prstGeom>
          <a:noFill/>
          <a:ln/>
        </p:spPr>
        <p:txBody>
          <a:bodyPr wrap="square" lIns="0" tIns="0" rIns="0" bIns="0" rtlCol="0" anchor="t"/>
          <a:lstStyle/>
          <a:p>
            <a:pPr indent="0" marL="0">
              <a:buNone/>
            </a:pPr>
            <a:r>
              <a:rPr lang="en-US" sz="1900" b="1" dirty="0">
                <a:solidFill>
                  <a:schemeClr val="bg1"/>
                </a:solidFill>
              </a:rPr>
              <a:t>Typing apps don't stick</a:t>
            </a:r>
            <a:endParaRPr lang="en-US" sz="1900" dirty="0"/>
          </a:p>
        </p:txBody>
      </p:sp>
      <p:sp>
        <p:nvSpPr>
          <p:cNvPr id="27" name="text-30"/>
          <p:cNvSpPr txBox="1"/>
          <p:nvPr/>
        </p:nvSpPr>
        <p:spPr>
          <a:xfrm>
            <a:off x="7086600" y="4956048"/>
            <a:ext cx="4480560" cy="685800"/>
          </a:xfrm>
          <a:prstGeom prst="rect">
            <a:avLst/>
          </a:prstGeom>
          <a:noFill/>
          <a:ln/>
        </p:spPr>
        <p:txBody>
          <a:bodyPr wrap="square" lIns="0" tIns="0" rIns="0" bIns="0" rtlCol="0" anchor="t"/>
          <a:lstStyle/>
          <a:p>
            <a:pPr indent="0" marL="0">
              <a:buNone/>
            </a:pPr>
            <a:r>
              <a:rPr lang="en-US" sz="1400" dirty="0">
                <a:solidFill>
                  <a:schemeClr val="bg2"/>
                </a:solidFill>
              </a:rPr>
              <a:t>A busy counter and low typing comfort mean bookkeeping apps get abandoned</a:t>
            </a:r>
            <a:endParaRPr lang="en-US" sz="1400" dirty="0"/>
          </a:p>
        </p:txBody>
      </p:sp>
      <p:sp>
        <p:nvSpPr>
          <p:cNvPr id="28" name="text-31"/>
          <p:cNvSpPr txBox="1"/>
          <p:nvPr/>
        </p:nvSpPr>
        <p:spPr>
          <a:xfrm>
            <a:off x="548640" y="6053328"/>
            <a:ext cx="10515600" cy="274320"/>
          </a:xfrm>
          <a:prstGeom prst="rect">
            <a:avLst/>
          </a:prstGeom>
          <a:noFill/>
          <a:ln/>
        </p:spPr>
        <p:txBody>
          <a:bodyPr wrap="square" lIns="0" tIns="0" rIns="0" bIns="0" rtlCol="0" anchor="t"/>
          <a:lstStyle/>
          <a:p>
            <a:pPr indent="0" marL="0">
              <a:buNone/>
            </a:pPr>
            <a:r>
              <a:rPr lang="en-US" sz="1000" dirty="0">
                <a:solidFill>
                  <a:schemeClr val="bg2"/>
                </a:solidFill>
              </a:rPr>
              <a:t>Sources: IFC–World Bank MSME Finance Gap (2025); BCG; USDA FAS; Jakarta Globe; ANPEC; industry estimates. Details in the business plan.</a:t>
            </a:r>
            <a:endParaRPr lang="en-US" sz="10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EasySell turns everyday selling into a finance copilot</a:t>
            </a:r>
            <a:endParaRPr lang="en-US" sz="3200" dirty="0"/>
          </a:p>
        </p:txBody>
      </p:sp>
      <p:sp>
        <p:nvSpPr>
          <p:cNvPr id="3" name="card-32"/>
          <p:cNvSpPr/>
          <p:nvPr/>
        </p:nvSpPr>
        <p:spPr>
          <a:xfrm>
            <a:off x="548640" y="1371600"/>
            <a:ext cx="2514600" cy="2834640"/>
          </a:xfrm>
          <a:prstGeom prst="roundRect">
            <a:avLst>
              <a:gd name="adj" fmla="val 4364"/>
            </a:avLst>
          </a:prstGeom>
          <a:solidFill>
            <a:schemeClr val="tx2"/>
          </a:solidFill>
          <a:ln w="12700">
            <a:solidFill>
              <a:schemeClr val="accent6"/>
            </a:solidFill>
            <a:prstDash val="solid"/>
          </a:ln>
        </p:spPr>
      </p:sp>
      <p:sp>
        <p:nvSpPr>
          <p:cNvPr id="4" name="icon-bg-33"/>
          <p:cNvSpPr/>
          <p:nvPr/>
        </p:nvSpPr>
        <p:spPr>
          <a:xfrm>
            <a:off x="1417320" y="1645920"/>
            <a:ext cx="777240" cy="777240"/>
          </a:xfrm>
          <a:prstGeom prst="ellipse">
            <a:avLst/>
          </a:prstGeom>
          <a:solidFill>
            <a:schemeClr val="accent1"/>
          </a:solidFill>
          <a:ln w="12700">
            <a:solidFill>
              <a:schemeClr val="accent1"/>
            </a:solidFill>
            <a:prstDash val="solid"/>
          </a:ln>
        </p:spPr>
      </p:sp>
      <p:pic>
        <p:nvPicPr>
          <p:cNvPr id="5" name="icon-34" descr="preencoded.png">    </p:cNvPr>
          <p:cNvPicPr>
            <a:picLocks noChangeAspect="1"/>
          </p:cNvPicPr>
          <p:nvPr/>
        </p:nvPicPr>
        <p:blipFill>
          <a:blip r:embed="rId1"/>
          <a:stretch>
            <a:fillRect/>
          </a:stretch>
        </p:blipFill>
        <p:spPr>
          <a:xfrm>
            <a:off x="1588313" y="1816913"/>
            <a:ext cx="435254" cy="435254"/>
          </a:xfrm>
          <a:prstGeom prst="rect">
            <a:avLst/>
          </a:prstGeom>
        </p:spPr>
      </p:pic>
      <p:sp>
        <p:nvSpPr>
          <p:cNvPr id="6" name="text-35"/>
          <p:cNvSpPr txBox="1"/>
          <p:nvPr/>
        </p:nvSpPr>
        <p:spPr>
          <a:xfrm>
            <a:off x="731520" y="2606040"/>
            <a:ext cx="2148840" cy="411480"/>
          </a:xfrm>
          <a:prstGeom prst="rect">
            <a:avLst/>
          </a:prstGeom>
          <a:noFill/>
          <a:ln/>
        </p:spPr>
        <p:txBody>
          <a:bodyPr wrap="square" lIns="0" tIns="0" rIns="0" bIns="0" rtlCol="0" anchor="t"/>
          <a:lstStyle/>
          <a:p>
            <a:pPr algn="ctr" indent="0" marL="0">
              <a:buNone/>
            </a:pPr>
            <a:r>
              <a:rPr lang="en-US" sz="2100" b="1" dirty="0">
                <a:solidFill>
                  <a:schemeClr val="bg1"/>
                </a:solidFill>
              </a:rPr>
              <a:t>1  Sell</a:t>
            </a:r>
            <a:endParaRPr lang="en-US" sz="2100" dirty="0"/>
          </a:p>
        </p:txBody>
      </p:sp>
      <p:sp>
        <p:nvSpPr>
          <p:cNvPr id="7" name="text-36"/>
          <p:cNvSpPr txBox="1"/>
          <p:nvPr/>
        </p:nvSpPr>
        <p:spPr>
          <a:xfrm>
            <a:off x="731520" y="3063240"/>
            <a:ext cx="2148840" cy="1005840"/>
          </a:xfrm>
          <a:prstGeom prst="rect">
            <a:avLst/>
          </a:prstGeom>
          <a:noFill/>
          <a:ln/>
        </p:spPr>
        <p:txBody>
          <a:bodyPr wrap="square" lIns="0" tIns="0" rIns="0" bIns="0" rtlCol="0" anchor="t"/>
          <a:lstStyle/>
          <a:p>
            <a:pPr algn="ctr" indent="0" marL="0">
              <a:buNone/>
            </a:pPr>
            <a:r>
              <a:rPr lang="en-US" sz="1400" dirty="0">
                <a:solidFill>
                  <a:schemeClr val="bg2"/>
                </a:solidFill>
              </a:rPr>
              <a:t>Speak or scan the sale. AI fills the cart; the owner confirms</a:t>
            </a:r>
            <a:endParaRPr lang="en-US" sz="1400" dirty="0"/>
          </a:p>
        </p:txBody>
      </p:sp>
      <p:pic>
        <p:nvPicPr>
          <p:cNvPr id="8" name="arrow-37" descr="preencoded.png">    </p:cNvPr>
          <p:cNvPicPr>
            <a:picLocks noChangeAspect="1"/>
          </p:cNvPicPr>
          <p:nvPr/>
        </p:nvPicPr>
        <p:blipFill>
          <a:blip r:embed="rId2"/>
          <a:stretch>
            <a:fillRect/>
          </a:stretch>
        </p:blipFill>
        <p:spPr>
          <a:xfrm>
            <a:off x="3099816" y="2578608"/>
            <a:ext cx="256032" cy="256032"/>
          </a:xfrm>
          <a:prstGeom prst="rect">
            <a:avLst/>
          </a:prstGeom>
        </p:spPr>
      </p:pic>
      <p:sp>
        <p:nvSpPr>
          <p:cNvPr id="9" name="card-38"/>
          <p:cNvSpPr/>
          <p:nvPr/>
        </p:nvSpPr>
        <p:spPr>
          <a:xfrm>
            <a:off x="3383280" y="1371600"/>
            <a:ext cx="2514600" cy="2834640"/>
          </a:xfrm>
          <a:prstGeom prst="roundRect">
            <a:avLst>
              <a:gd name="adj" fmla="val 4364"/>
            </a:avLst>
          </a:prstGeom>
          <a:solidFill>
            <a:schemeClr val="tx2"/>
          </a:solidFill>
          <a:ln w="12700">
            <a:solidFill>
              <a:schemeClr val="accent6"/>
            </a:solidFill>
            <a:prstDash val="solid"/>
          </a:ln>
        </p:spPr>
      </p:sp>
      <p:sp>
        <p:nvSpPr>
          <p:cNvPr id="10" name="icon-bg-39"/>
          <p:cNvSpPr/>
          <p:nvPr/>
        </p:nvSpPr>
        <p:spPr>
          <a:xfrm>
            <a:off x="4251960" y="1645920"/>
            <a:ext cx="777240" cy="777240"/>
          </a:xfrm>
          <a:prstGeom prst="ellipse">
            <a:avLst/>
          </a:prstGeom>
          <a:solidFill>
            <a:schemeClr val="accent1"/>
          </a:solidFill>
          <a:ln w="12700">
            <a:solidFill>
              <a:schemeClr val="accent1"/>
            </a:solidFill>
            <a:prstDash val="solid"/>
          </a:ln>
        </p:spPr>
      </p:sp>
      <p:pic>
        <p:nvPicPr>
          <p:cNvPr id="11" name="icon-40" descr="preencoded.png">    </p:cNvPr>
          <p:cNvPicPr>
            <a:picLocks noChangeAspect="1"/>
          </p:cNvPicPr>
          <p:nvPr/>
        </p:nvPicPr>
        <p:blipFill>
          <a:blip r:embed="rId3"/>
          <a:stretch>
            <a:fillRect/>
          </a:stretch>
        </p:blipFill>
        <p:spPr>
          <a:xfrm>
            <a:off x="4422953" y="1816913"/>
            <a:ext cx="435254" cy="435254"/>
          </a:xfrm>
          <a:prstGeom prst="rect">
            <a:avLst/>
          </a:prstGeom>
        </p:spPr>
      </p:pic>
      <p:sp>
        <p:nvSpPr>
          <p:cNvPr id="12" name="text-41"/>
          <p:cNvSpPr txBox="1"/>
          <p:nvPr/>
        </p:nvSpPr>
        <p:spPr>
          <a:xfrm>
            <a:off x="3566160" y="2606040"/>
            <a:ext cx="2148840" cy="411480"/>
          </a:xfrm>
          <a:prstGeom prst="rect">
            <a:avLst/>
          </a:prstGeom>
          <a:noFill/>
          <a:ln/>
        </p:spPr>
        <p:txBody>
          <a:bodyPr wrap="square" lIns="0" tIns="0" rIns="0" bIns="0" rtlCol="0" anchor="t"/>
          <a:lstStyle/>
          <a:p>
            <a:pPr algn="ctr" indent="0" marL="0">
              <a:buNone/>
            </a:pPr>
            <a:r>
              <a:rPr lang="en-US" sz="2100" b="1" dirty="0">
                <a:solidFill>
                  <a:schemeClr val="bg1"/>
                </a:solidFill>
              </a:rPr>
              <a:t>2  Track</a:t>
            </a:r>
            <a:endParaRPr lang="en-US" sz="2100" dirty="0"/>
          </a:p>
        </p:txBody>
      </p:sp>
      <p:sp>
        <p:nvSpPr>
          <p:cNvPr id="13" name="text-42"/>
          <p:cNvSpPr txBox="1"/>
          <p:nvPr/>
        </p:nvSpPr>
        <p:spPr>
          <a:xfrm>
            <a:off x="3566160" y="3063240"/>
            <a:ext cx="2148840" cy="1005840"/>
          </a:xfrm>
          <a:prstGeom prst="rect">
            <a:avLst/>
          </a:prstGeom>
          <a:noFill/>
          <a:ln/>
        </p:spPr>
        <p:txBody>
          <a:bodyPr wrap="square" lIns="0" tIns="0" rIns="0" bIns="0" rtlCol="0" anchor="t"/>
          <a:lstStyle/>
          <a:p>
            <a:pPr algn="ctr" indent="0" marL="0">
              <a:buNone/>
            </a:pPr>
            <a:r>
              <a:rPr lang="en-US" sz="1400" dirty="0">
                <a:solidFill>
                  <a:schemeClr val="bg2"/>
                </a:solidFill>
              </a:rPr>
              <a:t>Stock, profit and customer credit update in one safe step</a:t>
            </a:r>
            <a:endParaRPr lang="en-US" sz="1400" dirty="0"/>
          </a:p>
        </p:txBody>
      </p:sp>
      <p:pic>
        <p:nvPicPr>
          <p:cNvPr id="14" name="arrow-43" descr="preencoded.png">    </p:cNvPr>
          <p:cNvPicPr>
            <a:picLocks noChangeAspect="1"/>
          </p:cNvPicPr>
          <p:nvPr/>
        </p:nvPicPr>
        <p:blipFill>
          <a:blip r:embed="rId4"/>
          <a:stretch>
            <a:fillRect/>
          </a:stretch>
        </p:blipFill>
        <p:spPr>
          <a:xfrm>
            <a:off x="5934456" y="2578608"/>
            <a:ext cx="256032" cy="256032"/>
          </a:xfrm>
          <a:prstGeom prst="rect">
            <a:avLst/>
          </a:prstGeom>
        </p:spPr>
      </p:pic>
      <p:sp>
        <p:nvSpPr>
          <p:cNvPr id="15" name="card-44"/>
          <p:cNvSpPr/>
          <p:nvPr/>
        </p:nvSpPr>
        <p:spPr>
          <a:xfrm>
            <a:off x="6217920" y="1371600"/>
            <a:ext cx="2514600" cy="2834640"/>
          </a:xfrm>
          <a:prstGeom prst="roundRect">
            <a:avLst>
              <a:gd name="adj" fmla="val 4364"/>
            </a:avLst>
          </a:prstGeom>
          <a:solidFill>
            <a:schemeClr val="tx2"/>
          </a:solidFill>
          <a:ln w="12700">
            <a:solidFill>
              <a:schemeClr val="accent6"/>
            </a:solidFill>
            <a:prstDash val="solid"/>
          </a:ln>
        </p:spPr>
      </p:sp>
      <p:sp>
        <p:nvSpPr>
          <p:cNvPr id="16" name="icon-bg-45"/>
          <p:cNvSpPr/>
          <p:nvPr/>
        </p:nvSpPr>
        <p:spPr>
          <a:xfrm>
            <a:off x="7086600" y="1645920"/>
            <a:ext cx="777240" cy="777240"/>
          </a:xfrm>
          <a:prstGeom prst="ellipse">
            <a:avLst/>
          </a:prstGeom>
          <a:solidFill>
            <a:schemeClr val="accent2"/>
          </a:solidFill>
          <a:ln w="12700">
            <a:solidFill>
              <a:schemeClr val="accent2"/>
            </a:solidFill>
            <a:prstDash val="solid"/>
          </a:ln>
        </p:spPr>
      </p:sp>
      <p:pic>
        <p:nvPicPr>
          <p:cNvPr id="17" name="icon-46" descr="preencoded.png">    </p:cNvPr>
          <p:cNvPicPr>
            <a:picLocks noChangeAspect="1"/>
          </p:cNvPicPr>
          <p:nvPr/>
        </p:nvPicPr>
        <p:blipFill>
          <a:blip r:embed="rId5"/>
          <a:stretch>
            <a:fillRect/>
          </a:stretch>
        </p:blipFill>
        <p:spPr>
          <a:xfrm>
            <a:off x="7257593" y="1816913"/>
            <a:ext cx="435254" cy="435254"/>
          </a:xfrm>
          <a:prstGeom prst="rect">
            <a:avLst/>
          </a:prstGeom>
        </p:spPr>
      </p:pic>
      <p:sp>
        <p:nvSpPr>
          <p:cNvPr id="18" name="text-47"/>
          <p:cNvSpPr txBox="1"/>
          <p:nvPr/>
        </p:nvSpPr>
        <p:spPr>
          <a:xfrm>
            <a:off x="6400800" y="2606040"/>
            <a:ext cx="2148840" cy="411480"/>
          </a:xfrm>
          <a:prstGeom prst="rect">
            <a:avLst/>
          </a:prstGeom>
          <a:noFill/>
          <a:ln/>
        </p:spPr>
        <p:txBody>
          <a:bodyPr wrap="square" lIns="0" tIns="0" rIns="0" bIns="0" rtlCol="0" anchor="t"/>
          <a:lstStyle/>
          <a:p>
            <a:pPr algn="ctr" indent="0" marL="0">
              <a:buNone/>
            </a:pPr>
            <a:r>
              <a:rPr lang="en-US" sz="2100" b="1" dirty="0">
                <a:solidFill>
                  <a:schemeClr val="bg1"/>
                </a:solidFill>
              </a:rPr>
              <a:t>3  Warn</a:t>
            </a:r>
            <a:endParaRPr lang="en-US" sz="2100" dirty="0"/>
          </a:p>
        </p:txBody>
      </p:sp>
      <p:sp>
        <p:nvSpPr>
          <p:cNvPr id="19" name="text-48"/>
          <p:cNvSpPr txBox="1"/>
          <p:nvPr/>
        </p:nvSpPr>
        <p:spPr>
          <a:xfrm>
            <a:off x="6400800" y="3063240"/>
            <a:ext cx="2148840" cy="1005840"/>
          </a:xfrm>
          <a:prstGeom prst="rect">
            <a:avLst/>
          </a:prstGeom>
          <a:noFill/>
          <a:ln/>
        </p:spPr>
        <p:txBody>
          <a:bodyPr wrap="square" lIns="0" tIns="0" rIns="0" bIns="0" rtlCol="0" anchor="t"/>
          <a:lstStyle/>
          <a:p>
            <a:pPr algn="ctr" indent="0" marL="0">
              <a:buNone/>
            </a:pPr>
            <a:r>
              <a:rPr lang="en-US" sz="1400" dirty="0">
                <a:solidFill>
                  <a:schemeClr val="bg2"/>
                </a:solidFill>
              </a:rPr>
              <a:t>Money health flags late payers, cash drain, rising credit, falling sales</a:t>
            </a:r>
            <a:endParaRPr lang="en-US" sz="1400" dirty="0"/>
          </a:p>
        </p:txBody>
      </p:sp>
      <p:pic>
        <p:nvPicPr>
          <p:cNvPr id="20" name="arrow-49" descr="preencoded.png">    </p:cNvPr>
          <p:cNvPicPr>
            <a:picLocks noChangeAspect="1"/>
          </p:cNvPicPr>
          <p:nvPr/>
        </p:nvPicPr>
        <p:blipFill>
          <a:blip r:embed="rId6"/>
          <a:stretch>
            <a:fillRect/>
          </a:stretch>
        </p:blipFill>
        <p:spPr>
          <a:xfrm>
            <a:off x="8769096" y="2578608"/>
            <a:ext cx="256032" cy="256032"/>
          </a:xfrm>
          <a:prstGeom prst="rect">
            <a:avLst/>
          </a:prstGeom>
        </p:spPr>
      </p:pic>
      <p:sp>
        <p:nvSpPr>
          <p:cNvPr id="21" name="card-50"/>
          <p:cNvSpPr/>
          <p:nvPr/>
        </p:nvSpPr>
        <p:spPr>
          <a:xfrm>
            <a:off x="9052560" y="1371600"/>
            <a:ext cx="2514600" cy="2834640"/>
          </a:xfrm>
          <a:prstGeom prst="roundRect">
            <a:avLst>
              <a:gd name="adj" fmla="val 4364"/>
            </a:avLst>
          </a:prstGeom>
          <a:solidFill>
            <a:schemeClr val="tx2"/>
          </a:solidFill>
          <a:ln w="12700">
            <a:solidFill>
              <a:schemeClr val="accent6"/>
            </a:solidFill>
            <a:prstDash val="solid"/>
          </a:ln>
        </p:spPr>
      </p:sp>
      <p:sp>
        <p:nvSpPr>
          <p:cNvPr id="22" name="icon-bg-51"/>
          <p:cNvSpPr/>
          <p:nvPr/>
        </p:nvSpPr>
        <p:spPr>
          <a:xfrm>
            <a:off x="9921240" y="1645920"/>
            <a:ext cx="777240" cy="777240"/>
          </a:xfrm>
          <a:prstGeom prst="ellipse">
            <a:avLst/>
          </a:prstGeom>
          <a:solidFill>
            <a:schemeClr val="accent2"/>
          </a:solidFill>
          <a:ln w="12700">
            <a:solidFill>
              <a:schemeClr val="accent2"/>
            </a:solidFill>
            <a:prstDash val="solid"/>
          </a:ln>
        </p:spPr>
      </p:sp>
      <p:pic>
        <p:nvPicPr>
          <p:cNvPr id="23" name="icon-52" descr="preencoded.png">    </p:cNvPr>
          <p:cNvPicPr>
            <a:picLocks noChangeAspect="1"/>
          </p:cNvPicPr>
          <p:nvPr/>
        </p:nvPicPr>
        <p:blipFill>
          <a:blip r:embed="rId7"/>
          <a:stretch>
            <a:fillRect/>
          </a:stretch>
        </p:blipFill>
        <p:spPr>
          <a:xfrm>
            <a:off x="10092233" y="1816913"/>
            <a:ext cx="435254" cy="435254"/>
          </a:xfrm>
          <a:prstGeom prst="rect">
            <a:avLst/>
          </a:prstGeom>
        </p:spPr>
      </p:pic>
      <p:sp>
        <p:nvSpPr>
          <p:cNvPr id="24" name="text-53"/>
          <p:cNvSpPr txBox="1"/>
          <p:nvPr/>
        </p:nvSpPr>
        <p:spPr>
          <a:xfrm>
            <a:off x="9235440" y="2606040"/>
            <a:ext cx="2148840" cy="411480"/>
          </a:xfrm>
          <a:prstGeom prst="rect">
            <a:avLst/>
          </a:prstGeom>
          <a:noFill/>
          <a:ln/>
        </p:spPr>
        <p:txBody>
          <a:bodyPr wrap="square" lIns="0" tIns="0" rIns="0" bIns="0" rtlCol="0" anchor="t"/>
          <a:lstStyle/>
          <a:p>
            <a:pPr algn="ctr" indent="0" marL="0">
              <a:buNone/>
            </a:pPr>
            <a:r>
              <a:rPr lang="en-US" sz="2100" b="1" dirty="0">
                <a:solidFill>
                  <a:schemeClr val="bg1"/>
                </a:solidFill>
              </a:rPr>
              <a:t>4  Finance</a:t>
            </a:r>
            <a:endParaRPr lang="en-US" sz="2100" dirty="0"/>
          </a:p>
        </p:txBody>
      </p:sp>
      <p:sp>
        <p:nvSpPr>
          <p:cNvPr id="25" name="text-54"/>
          <p:cNvSpPr txBox="1"/>
          <p:nvPr/>
        </p:nvSpPr>
        <p:spPr>
          <a:xfrm>
            <a:off x="9235440" y="3063240"/>
            <a:ext cx="2148840" cy="1005840"/>
          </a:xfrm>
          <a:prstGeom prst="rect">
            <a:avLst/>
          </a:prstGeom>
          <a:noFill/>
          <a:ln/>
        </p:spPr>
        <p:txBody>
          <a:bodyPr wrap="square" lIns="0" tIns="0" rIns="0" bIns="0" rtlCol="0" anchor="t"/>
          <a:lstStyle/>
          <a:p>
            <a:pPr algn="ctr" indent="0" marL="0">
              <a:buNone/>
            </a:pPr>
            <a:r>
              <a:rPr lang="en-US" sz="1400" dirty="0">
                <a:solidFill>
                  <a:schemeClr val="bg2"/>
                </a:solidFill>
              </a:rPr>
              <a:t>Matches the shop to loans it is ready for, and says why</a:t>
            </a:r>
            <a:endParaRPr lang="en-US" sz="1400" dirty="0"/>
          </a:p>
        </p:txBody>
      </p:sp>
      <p:sp>
        <p:nvSpPr>
          <p:cNvPr id="26" name="card-55"/>
          <p:cNvSpPr/>
          <p:nvPr/>
        </p:nvSpPr>
        <p:spPr>
          <a:xfrm>
            <a:off x="548640" y="4572000"/>
            <a:ext cx="11064240" cy="1417320"/>
          </a:xfrm>
          <a:prstGeom prst="roundRect">
            <a:avLst>
              <a:gd name="adj" fmla="val 7742"/>
            </a:avLst>
          </a:prstGeom>
          <a:solidFill>
            <a:schemeClr val="tx2"/>
          </a:solidFill>
          <a:ln w="12700">
            <a:solidFill>
              <a:schemeClr val="accent2"/>
            </a:solidFill>
            <a:prstDash val="solid"/>
          </a:ln>
        </p:spPr>
      </p:sp>
      <p:sp>
        <p:nvSpPr>
          <p:cNvPr id="27" name="icon-bg-56"/>
          <p:cNvSpPr/>
          <p:nvPr/>
        </p:nvSpPr>
        <p:spPr>
          <a:xfrm>
            <a:off x="868680" y="4873752"/>
            <a:ext cx="777240" cy="777240"/>
          </a:xfrm>
          <a:prstGeom prst="ellipse">
            <a:avLst/>
          </a:prstGeom>
          <a:solidFill>
            <a:schemeClr val="accent2"/>
          </a:solidFill>
          <a:ln w="12700">
            <a:solidFill>
              <a:schemeClr val="accent2"/>
            </a:solidFill>
            <a:prstDash val="solid"/>
          </a:ln>
        </p:spPr>
      </p:sp>
      <p:pic>
        <p:nvPicPr>
          <p:cNvPr id="28" name="icon-57" descr="preencoded.png">    </p:cNvPr>
          <p:cNvPicPr>
            <a:picLocks noChangeAspect="1"/>
          </p:cNvPicPr>
          <p:nvPr/>
        </p:nvPicPr>
        <p:blipFill>
          <a:blip r:embed="rId8"/>
          <a:stretch>
            <a:fillRect/>
          </a:stretch>
        </p:blipFill>
        <p:spPr>
          <a:xfrm>
            <a:off x="1039673" y="5044745"/>
            <a:ext cx="435254" cy="435254"/>
          </a:xfrm>
          <a:prstGeom prst="rect">
            <a:avLst/>
          </a:prstGeom>
        </p:spPr>
      </p:pic>
      <p:sp>
        <p:nvSpPr>
          <p:cNvPr id="29" name="text-58"/>
          <p:cNvSpPr txBox="1"/>
          <p:nvPr/>
        </p:nvSpPr>
        <p:spPr>
          <a:xfrm>
            <a:off x="1920240" y="4800600"/>
            <a:ext cx="9326880" cy="411480"/>
          </a:xfrm>
          <a:prstGeom prst="rect">
            <a:avLst/>
          </a:prstGeom>
          <a:noFill/>
          <a:ln/>
        </p:spPr>
        <p:txBody>
          <a:bodyPr wrap="square" lIns="0" tIns="0" rIns="0" bIns="0" rtlCol="0" anchor="t"/>
          <a:lstStyle/>
          <a:p>
            <a:pPr indent="0" marL="0">
              <a:buNone/>
            </a:pPr>
            <a:r>
              <a:rPr lang="en-US" sz="2100" b="1" dirty="0">
                <a:solidFill>
                  <a:schemeClr val="bg1"/>
                </a:solidFill>
              </a:rPr>
              <a:t>Rules decide, AI explains</a:t>
            </a:r>
            <a:endParaRPr lang="en-US" sz="2100" dirty="0"/>
          </a:p>
        </p:txBody>
      </p:sp>
      <p:sp>
        <p:nvSpPr>
          <p:cNvPr id="30" name="text-59"/>
          <p:cNvSpPr txBox="1"/>
          <p:nvPr/>
        </p:nvSpPr>
        <p:spPr>
          <a:xfrm>
            <a:off x="1920240" y="5230368"/>
            <a:ext cx="9326880" cy="640080"/>
          </a:xfrm>
          <a:prstGeom prst="rect">
            <a:avLst/>
          </a:prstGeom>
          <a:noFill/>
          <a:ln/>
        </p:spPr>
        <p:txBody>
          <a:bodyPr wrap="square" lIns="0" tIns="0" rIns="0" bIns="0" rtlCol="0" anchor="t"/>
          <a:lstStyle/>
          <a:p>
            <a:pPr indent="0" marL="0">
              <a:buNone/>
            </a:pPr>
            <a:r>
              <a:rPr lang="en-US" sz="1500" dirty="0">
                <a:solidFill>
                  <a:schemeClr val="bg2"/>
                </a:solidFill>
              </a:rPr>
              <a:t>Every number comes from the shop's own records. Gemini only turns it into plain advice in the owner's language, so it can never invent a figure.</a:t>
            </a:r>
            <a:endParaRPr lang="en-US" sz="15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Selling at counter speed, with books that add up</a:t>
            </a:r>
            <a:endParaRPr lang="en-US" sz="3200" dirty="0"/>
          </a:p>
        </p:txBody>
      </p:sp>
      <p:sp>
        <p:nvSpPr>
          <p:cNvPr id="3" name="icon-bg-60"/>
          <p:cNvSpPr/>
          <p:nvPr/>
        </p:nvSpPr>
        <p:spPr>
          <a:xfrm>
            <a:off x="548640" y="1371600"/>
            <a:ext cx="731520" cy="731520"/>
          </a:xfrm>
          <a:prstGeom prst="ellipse">
            <a:avLst/>
          </a:prstGeom>
          <a:solidFill>
            <a:schemeClr val="accent1"/>
          </a:solidFill>
          <a:ln w="12700">
            <a:solidFill>
              <a:schemeClr val="accent1"/>
            </a:solidFill>
            <a:prstDash val="solid"/>
          </a:ln>
        </p:spPr>
      </p:sp>
      <p:pic>
        <p:nvPicPr>
          <p:cNvPr id="4" name="icon-61" descr="preencoded.png">    </p:cNvPr>
          <p:cNvPicPr>
            <a:picLocks noChangeAspect="1"/>
          </p:cNvPicPr>
          <p:nvPr/>
        </p:nvPicPr>
        <p:blipFill>
          <a:blip r:embed="rId1"/>
          <a:stretch>
            <a:fillRect/>
          </a:stretch>
        </p:blipFill>
        <p:spPr>
          <a:xfrm>
            <a:off x="709574" y="1532534"/>
            <a:ext cx="409651" cy="409651"/>
          </a:xfrm>
          <a:prstGeom prst="rect">
            <a:avLst/>
          </a:prstGeom>
        </p:spPr>
      </p:pic>
      <p:sp>
        <p:nvSpPr>
          <p:cNvPr id="5" name="text-62"/>
          <p:cNvSpPr txBox="1"/>
          <p:nvPr/>
        </p:nvSpPr>
        <p:spPr>
          <a:xfrm>
            <a:off x="1508760" y="1353312"/>
            <a:ext cx="4754880" cy="384048"/>
          </a:xfrm>
          <a:prstGeom prst="rect">
            <a:avLst/>
          </a:prstGeom>
          <a:noFill/>
          <a:ln/>
        </p:spPr>
        <p:txBody>
          <a:bodyPr wrap="square" lIns="0" tIns="0" rIns="0" bIns="0" rtlCol="0" anchor="t"/>
          <a:lstStyle/>
          <a:p>
            <a:pPr indent="0" marL="0">
              <a:buNone/>
            </a:pPr>
            <a:r>
              <a:rPr lang="en-US" sz="1900" b="1" dirty="0">
                <a:solidFill>
                  <a:schemeClr val="bg1"/>
                </a:solidFill>
              </a:rPr>
              <a:t>Voice sale</a:t>
            </a:r>
            <a:endParaRPr lang="en-US" sz="1900" dirty="0"/>
          </a:p>
        </p:txBody>
      </p:sp>
      <p:sp>
        <p:nvSpPr>
          <p:cNvPr id="6" name="text-63"/>
          <p:cNvSpPr txBox="1"/>
          <p:nvPr/>
        </p:nvSpPr>
        <p:spPr>
          <a:xfrm>
            <a:off x="1508760" y="1755648"/>
            <a:ext cx="4754880" cy="548640"/>
          </a:xfrm>
          <a:prstGeom prst="rect">
            <a:avLst/>
          </a:prstGeom>
          <a:noFill/>
          <a:ln/>
        </p:spPr>
        <p:txBody>
          <a:bodyPr wrap="square" lIns="0" tIns="0" rIns="0" bIns="0" rtlCol="0" anchor="t"/>
          <a:lstStyle/>
          <a:p>
            <a:pPr indent="0" marL="0">
              <a:buNone/>
            </a:pPr>
            <a:r>
              <a:rPr lang="en-US" sz="1400" dirty="0">
                <a:solidFill>
                  <a:schemeClr val="bg2"/>
                </a:solidFill>
              </a:rPr>
              <a:t>Say the sale in your own words; Gemini turns it into cart lines</a:t>
            </a:r>
            <a:endParaRPr lang="en-US" sz="1400" dirty="0"/>
          </a:p>
        </p:txBody>
      </p:sp>
      <p:sp>
        <p:nvSpPr>
          <p:cNvPr id="7" name="icon-bg-64"/>
          <p:cNvSpPr/>
          <p:nvPr/>
        </p:nvSpPr>
        <p:spPr>
          <a:xfrm>
            <a:off x="548640" y="2560320"/>
            <a:ext cx="731520" cy="731520"/>
          </a:xfrm>
          <a:prstGeom prst="ellipse">
            <a:avLst/>
          </a:prstGeom>
          <a:solidFill>
            <a:schemeClr val="accent1"/>
          </a:solidFill>
          <a:ln w="12700">
            <a:solidFill>
              <a:schemeClr val="accent1"/>
            </a:solidFill>
            <a:prstDash val="solid"/>
          </a:ln>
        </p:spPr>
      </p:sp>
      <p:pic>
        <p:nvPicPr>
          <p:cNvPr id="8" name="icon-65" descr="preencoded.png">    </p:cNvPr>
          <p:cNvPicPr>
            <a:picLocks noChangeAspect="1"/>
          </p:cNvPicPr>
          <p:nvPr/>
        </p:nvPicPr>
        <p:blipFill>
          <a:blip r:embed="rId2"/>
          <a:stretch>
            <a:fillRect/>
          </a:stretch>
        </p:blipFill>
        <p:spPr>
          <a:xfrm>
            <a:off x="709574" y="2721254"/>
            <a:ext cx="409651" cy="409651"/>
          </a:xfrm>
          <a:prstGeom prst="rect">
            <a:avLst/>
          </a:prstGeom>
        </p:spPr>
      </p:pic>
      <p:sp>
        <p:nvSpPr>
          <p:cNvPr id="9" name="text-66"/>
          <p:cNvSpPr txBox="1"/>
          <p:nvPr/>
        </p:nvSpPr>
        <p:spPr>
          <a:xfrm>
            <a:off x="1508760" y="2542032"/>
            <a:ext cx="4754880" cy="384048"/>
          </a:xfrm>
          <a:prstGeom prst="rect">
            <a:avLst/>
          </a:prstGeom>
          <a:noFill/>
          <a:ln/>
        </p:spPr>
        <p:txBody>
          <a:bodyPr wrap="square" lIns="0" tIns="0" rIns="0" bIns="0" rtlCol="0" anchor="t"/>
          <a:lstStyle/>
          <a:p>
            <a:pPr indent="0" marL="0">
              <a:buNone/>
            </a:pPr>
            <a:r>
              <a:rPr lang="en-US" sz="1900" b="1" dirty="0">
                <a:solidFill>
                  <a:schemeClr val="bg1"/>
                </a:solidFill>
              </a:rPr>
              <a:t>Camera scan</a:t>
            </a:r>
            <a:endParaRPr lang="en-US" sz="1900" dirty="0"/>
          </a:p>
        </p:txBody>
      </p:sp>
      <p:sp>
        <p:nvSpPr>
          <p:cNvPr id="10" name="text-67"/>
          <p:cNvSpPr txBox="1"/>
          <p:nvPr/>
        </p:nvSpPr>
        <p:spPr>
          <a:xfrm>
            <a:off x="1508760" y="2944368"/>
            <a:ext cx="4754880" cy="548640"/>
          </a:xfrm>
          <a:prstGeom prst="rect">
            <a:avLst/>
          </a:prstGeom>
          <a:noFill/>
          <a:ln/>
        </p:spPr>
        <p:txBody>
          <a:bodyPr wrap="square" lIns="0" tIns="0" rIns="0" bIns="0" rtlCol="0" anchor="t"/>
          <a:lstStyle/>
          <a:p>
            <a:pPr indent="0" marL="0">
              <a:buNone/>
            </a:pPr>
            <a:r>
              <a:rPr lang="en-US" sz="1400" dirty="0">
                <a:solidFill>
                  <a:schemeClr val="bg2"/>
                </a:solidFill>
              </a:rPr>
              <a:t>Point at products; AI matches them to the shop's own list</a:t>
            </a:r>
            <a:endParaRPr lang="en-US" sz="1400" dirty="0"/>
          </a:p>
        </p:txBody>
      </p:sp>
      <p:sp>
        <p:nvSpPr>
          <p:cNvPr id="11" name="icon-bg-68"/>
          <p:cNvSpPr/>
          <p:nvPr/>
        </p:nvSpPr>
        <p:spPr>
          <a:xfrm>
            <a:off x="548640" y="3749040"/>
            <a:ext cx="731520" cy="731520"/>
          </a:xfrm>
          <a:prstGeom prst="ellipse">
            <a:avLst/>
          </a:prstGeom>
          <a:solidFill>
            <a:schemeClr val="accent2"/>
          </a:solidFill>
          <a:ln w="12700">
            <a:solidFill>
              <a:schemeClr val="accent2"/>
            </a:solidFill>
            <a:prstDash val="solid"/>
          </a:ln>
        </p:spPr>
      </p:sp>
      <p:pic>
        <p:nvPicPr>
          <p:cNvPr id="12" name="icon-69" descr="preencoded.png">    </p:cNvPr>
          <p:cNvPicPr>
            <a:picLocks noChangeAspect="1"/>
          </p:cNvPicPr>
          <p:nvPr/>
        </p:nvPicPr>
        <p:blipFill>
          <a:blip r:embed="rId3"/>
          <a:stretch>
            <a:fillRect/>
          </a:stretch>
        </p:blipFill>
        <p:spPr>
          <a:xfrm>
            <a:off x="709574" y="3909974"/>
            <a:ext cx="409651" cy="409651"/>
          </a:xfrm>
          <a:prstGeom prst="rect">
            <a:avLst/>
          </a:prstGeom>
        </p:spPr>
      </p:pic>
      <p:sp>
        <p:nvSpPr>
          <p:cNvPr id="13" name="text-70"/>
          <p:cNvSpPr txBox="1"/>
          <p:nvPr/>
        </p:nvSpPr>
        <p:spPr>
          <a:xfrm>
            <a:off x="1508760" y="3730752"/>
            <a:ext cx="4754880" cy="384048"/>
          </a:xfrm>
          <a:prstGeom prst="rect">
            <a:avLst/>
          </a:prstGeom>
          <a:noFill/>
          <a:ln/>
        </p:spPr>
        <p:txBody>
          <a:bodyPr wrap="square" lIns="0" tIns="0" rIns="0" bIns="0" rtlCol="0" anchor="t"/>
          <a:lstStyle/>
          <a:p>
            <a:pPr indent="0" marL="0">
              <a:buNone/>
            </a:pPr>
            <a:r>
              <a:rPr lang="en-US" sz="1900" b="1" dirty="0">
                <a:solidFill>
                  <a:schemeClr val="bg1"/>
                </a:solidFill>
              </a:rPr>
              <a:t>Checkout</a:t>
            </a:r>
            <a:endParaRPr lang="en-US" sz="1900" dirty="0"/>
          </a:p>
        </p:txBody>
      </p:sp>
      <p:sp>
        <p:nvSpPr>
          <p:cNvPr id="14" name="text-71"/>
          <p:cNvSpPr txBox="1"/>
          <p:nvPr/>
        </p:nvSpPr>
        <p:spPr>
          <a:xfrm>
            <a:off x="1508760" y="4133088"/>
            <a:ext cx="4754880" cy="548640"/>
          </a:xfrm>
          <a:prstGeom prst="rect">
            <a:avLst/>
          </a:prstGeom>
          <a:noFill/>
          <a:ln/>
        </p:spPr>
        <p:txBody>
          <a:bodyPr wrap="square" lIns="0" tIns="0" rIns="0" bIns="0" rtlCol="0" anchor="t"/>
          <a:lstStyle/>
          <a:p>
            <a:pPr indent="0" marL="0">
              <a:buNone/>
            </a:pPr>
            <a:r>
              <a:rPr lang="en-US" sz="1400" dirty="0">
                <a:solidFill>
                  <a:schemeClr val="bg2"/>
                </a:solidFill>
              </a:rPr>
              <a:t>Cash, Digital or Credit, with discounts; retry-safe, never recorded twice</a:t>
            </a:r>
            <a:endParaRPr lang="en-US" sz="1400" dirty="0"/>
          </a:p>
        </p:txBody>
      </p:sp>
      <p:sp>
        <p:nvSpPr>
          <p:cNvPr id="15" name="icon-bg-72"/>
          <p:cNvSpPr/>
          <p:nvPr/>
        </p:nvSpPr>
        <p:spPr>
          <a:xfrm>
            <a:off x="548640" y="4937760"/>
            <a:ext cx="731520" cy="731520"/>
          </a:xfrm>
          <a:prstGeom prst="ellipse">
            <a:avLst/>
          </a:prstGeom>
          <a:solidFill>
            <a:schemeClr val="accent2"/>
          </a:solidFill>
          <a:ln w="12700">
            <a:solidFill>
              <a:schemeClr val="accent2"/>
            </a:solidFill>
            <a:prstDash val="solid"/>
          </a:ln>
        </p:spPr>
      </p:sp>
      <p:pic>
        <p:nvPicPr>
          <p:cNvPr id="16" name="icon-73" descr="preencoded.png">    </p:cNvPr>
          <p:cNvPicPr>
            <a:picLocks noChangeAspect="1"/>
          </p:cNvPicPr>
          <p:nvPr/>
        </p:nvPicPr>
        <p:blipFill>
          <a:blip r:embed="rId4"/>
          <a:stretch>
            <a:fillRect/>
          </a:stretch>
        </p:blipFill>
        <p:spPr>
          <a:xfrm>
            <a:off x="709574" y="5098694"/>
            <a:ext cx="409651" cy="409651"/>
          </a:xfrm>
          <a:prstGeom prst="rect">
            <a:avLst/>
          </a:prstGeom>
        </p:spPr>
      </p:pic>
      <p:sp>
        <p:nvSpPr>
          <p:cNvPr id="17" name="text-74"/>
          <p:cNvSpPr txBox="1"/>
          <p:nvPr/>
        </p:nvSpPr>
        <p:spPr>
          <a:xfrm>
            <a:off x="1508760" y="4919472"/>
            <a:ext cx="4754880" cy="384048"/>
          </a:xfrm>
          <a:prstGeom prst="rect">
            <a:avLst/>
          </a:prstGeom>
          <a:noFill/>
          <a:ln/>
        </p:spPr>
        <p:txBody>
          <a:bodyPr wrap="square" lIns="0" tIns="0" rIns="0" bIns="0" rtlCol="0" anchor="t"/>
          <a:lstStyle/>
          <a:p>
            <a:pPr indent="0" marL="0">
              <a:buNone/>
            </a:pPr>
            <a:r>
              <a:rPr lang="en-US" sz="1900" b="1" dirty="0">
                <a:solidFill>
                  <a:schemeClr val="bg1"/>
                </a:solidFill>
              </a:rPr>
              <a:t>Financial analysis</a:t>
            </a:r>
            <a:endParaRPr lang="en-US" sz="1900" dirty="0"/>
          </a:p>
        </p:txBody>
      </p:sp>
      <p:sp>
        <p:nvSpPr>
          <p:cNvPr id="18" name="text-75"/>
          <p:cNvSpPr txBox="1"/>
          <p:nvPr/>
        </p:nvSpPr>
        <p:spPr>
          <a:xfrm>
            <a:off x="1508760" y="5321808"/>
            <a:ext cx="4754880" cy="548640"/>
          </a:xfrm>
          <a:prstGeom prst="rect">
            <a:avLst/>
          </a:prstGeom>
          <a:noFill/>
          <a:ln/>
        </p:spPr>
        <p:txBody>
          <a:bodyPr wrap="square" lIns="0" tIns="0" rIns="0" bIns="0" rtlCol="0" anchor="t"/>
          <a:lstStyle/>
          <a:p>
            <a:pPr indent="0" marL="0">
              <a:buNone/>
            </a:pPr>
            <a:r>
              <a:rPr lang="en-US" sz="1400" dirty="0">
                <a:solidFill>
                  <a:schemeClr val="bg2"/>
                </a:solidFill>
              </a:rPr>
              <a:t>Revenue, profit, margin, top sellers and searchable sales history</a:t>
            </a:r>
            <a:endParaRPr lang="en-US" sz="1400" dirty="0"/>
          </a:p>
        </p:txBody>
      </p:sp>
      <p:sp>
        <p:nvSpPr>
          <p:cNvPr id="19" name="placeholder-voice-scan"/>
          <p:cNvSpPr/>
          <p:nvPr/>
        </p:nvSpPr>
        <p:spPr>
          <a:xfrm>
            <a:off x="6629400" y="1325880"/>
            <a:ext cx="2377440" cy="4480560"/>
          </a:xfrm>
          <a:prstGeom prst="roundRect">
            <a:avLst>
              <a:gd name="adj" fmla="val 6923"/>
            </a:avLst>
          </a:prstGeom>
          <a:solidFill>
            <a:schemeClr val="tx2"/>
          </a:solidFill>
          <a:ln w="19050">
            <a:solidFill>
              <a:schemeClr val="bg2"/>
            </a:solidFill>
            <a:prstDash val="dash"/>
          </a:ln>
        </p:spPr>
      </p:sp>
      <p:sp>
        <p:nvSpPr>
          <p:cNvPr id="20" name="text-76"/>
          <p:cNvSpPr txBox="1"/>
          <p:nvPr/>
        </p:nvSpPr>
        <p:spPr>
          <a:xfrm>
            <a:off x="6812280" y="3108960"/>
            <a:ext cx="2011680" cy="914400"/>
          </a:xfrm>
          <a:prstGeom prst="rect">
            <a:avLst/>
          </a:prstGeom>
          <a:noFill/>
          <a:ln/>
        </p:spPr>
        <p:txBody>
          <a:bodyPr wrap="square" lIns="0" tIns="0" rIns="0" bIns="0" rtlCol="0" anchor="ctr"/>
          <a:lstStyle/>
          <a:p>
            <a:pPr algn="ctr" indent="0" marL="0">
              <a:buNone/>
            </a:pPr>
            <a:r>
              <a:rPr lang="en-US" sz="1400" dirty="0">
                <a:solidFill>
                  <a:schemeClr val="bg2"/>
                </a:solidFill>
              </a:rPr>
              <a:t>[Screenshot: voice sale or camera scan]</a:t>
            </a:r>
            <a:endParaRPr lang="en-US" sz="1400" dirty="0"/>
          </a:p>
        </p:txBody>
      </p:sp>
      <p:sp>
        <p:nvSpPr>
          <p:cNvPr id="21" name="frame-77"/>
          <p:cNvSpPr/>
          <p:nvPr/>
        </p:nvSpPr>
        <p:spPr>
          <a:xfrm>
            <a:off x="9253728" y="1252728"/>
            <a:ext cx="2478024" cy="3795014"/>
          </a:xfrm>
          <a:prstGeom prst="roundRect">
            <a:avLst>
              <a:gd name="adj" fmla="val 6642"/>
            </a:avLst>
          </a:prstGeom>
          <a:solidFill>
            <a:schemeClr val="tx2"/>
          </a:solidFill>
          <a:ln w="19050">
            <a:solidFill>
              <a:schemeClr val="accent1"/>
            </a:solidFill>
            <a:prstDash val="solid"/>
          </a:ln>
        </p:spPr>
      </p:sp>
      <p:pic>
        <p:nvPicPr>
          <p:cNvPr id="22" name="screenshot-sales-history" descr="C:\Users\User\AppData\Local\Temp\claude\d--ClaudeCodeProjects-MobileApp\5a1abb58-9612-4bef-aed6-5d1b8630541e\scratchpad\deck\shots\history.png">    </p:cNvPr>
          <p:cNvPicPr>
            <a:picLocks noChangeAspect="1"/>
          </p:cNvPicPr>
          <p:nvPr/>
        </p:nvPicPr>
        <p:blipFill>
          <a:blip r:embed="rId5"/>
          <a:stretch>
            <a:fillRect/>
          </a:stretch>
        </p:blipFill>
        <p:spPr>
          <a:xfrm>
            <a:off x="9326880" y="1325880"/>
            <a:ext cx="2331720" cy="3648710"/>
          </a:xfrm>
          <a:prstGeom prst="rect">
            <a:avLst/>
          </a:prstGeom>
        </p:spPr>
      </p:pic>
      <p:sp>
        <p:nvSpPr>
          <p:cNvPr id="23" name="text-78"/>
          <p:cNvSpPr txBox="1"/>
          <p:nvPr/>
        </p:nvSpPr>
        <p:spPr>
          <a:xfrm>
            <a:off x="9326880" y="5111750"/>
            <a:ext cx="2331720" cy="274320"/>
          </a:xfrm>
          <a:prstGeom prst="rect">
            <a:avLst/>
          </a:prstGeom>
          <a:noFill/>
          <a:ln/>
        </p:spPr>
        <p:txBody>
          <a:bodyPr wrap="square" lIns="0" tIns="0" rIns="0" bIns="0" rtlCol="0" anchor="t"/>
          <a:lstStyle/>
          <a:p>
            <a:pPr algn="ctr" indent="0" marL="0">
              <a:buNone/>
            </a:pPr>
            <a:r>
              <a:rPr lang="en-US" sz="1100" dirty="0">
                <a:solidFill>
                  <a:schemeClr val="bg2"/>
                </a:solidFill>
              </a:rPr>
              <a:t>Sales history</a:t>
            </a:r>
            <a:endParaRPr lang="en-US" sz="11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Money health warns the owner before cash runs out</a:t>
            </a:r>
            <a:endParaRPr lang="en-US" sz="3200" dirty="0"/>
          </a:p>
        </p:txBody>
      </p:sp>
      <p:sp>
        <p:nvSpPr>
          <p:cNvPr id="3" name="text-79"/>
          <p:cNvSpPr txBox="1"/>
          <p:nvPr/>
        </p:nvSpPr>
        <p:spPr>
          <a:xfrm>
            <a:off x="548640" y="1280160"/>
            <a:ext cx="6126480" cy="685800"/>
          </a:xfrm>
          <a:prstGeom prst="rect">
            <a:avLst/>
          </a:prstGeom>
          <a:noFill/>
          <a:ln/>
        </p:spPr>
        <p:txBody>
          <a:bodyPr wrap="square" lIns="0" tIns="0" rIns="0" bIns="0" rtlCol="0" anchor="t"/>
          <a:lstStyle/>
          <a:p>
            <a:pPr indent="0" marL="0">
              <a:buNone/>
            </a:pPr>
            <a:r>
              <a:rPr lang="en-US" sz="1500" dirty="0">
                <a:solidFill>
                  <a:schemeClr val="bg2"/>
                </a:solidFill>
              </a:rPr>
              <a:t>Every week: money in (cash + digital sales + credit collected), money out (restocks), and net. Four automatic warnings:</a:t>
            </a:r>
            <a:endParaRPr lang="en-US" sz="1500" dirty="0"/>
          </a:p>
        </p:txBody>
      </p:sp>
      <p:sp>
        <p:nvSpPr>
          <p:cNvPr id="4" name="icon-bg-80"/>
          <p:cNvSpPr/>
          <p:nvPr/>
        </p:nvSpPr>
        <p:spPr>
          <a:xfrm>
            <a:off x="548640" y="2103120"/>
            <a:ext cx="548640" cy="548640"/>
          </a:xfrm>
          <a:prstGeom prst="ellipse">
            <a:avLst/>
          </a:prstGeom>
          <a:solidFill>
            <a:schemeClr val="accent5"/>
          </a:solidFill>
          <a:ln w="12700">
            <a:solidFill>
              <a:schemeClr val="accent5"/>
            </a:solidFill>
            <a:prstDash val="solid"/>
          </a:ln>
        </p:spPr>
      </p:sp>
      <p:pic>
        <p:nvPicPr>
          <p:cNvPr id="5" name="icon-81" descr="preencoded.png">    </p:cNvPr>
          <p:cNvPicPr>
            <a:picLocks noChangeAspect="1"/>
          </p:cNvPicPr>
          <p:nvPr/>
        </p:nvPicPr>
        <p:blipFill>
          <a:blip r:embed="rId1"/>
          <a:stretch>
            <a:fillRect/>
          </a:stretch>
        </p:blipFill>
        <p:spPr>
          <a:xfrm>
            <a:off x="669341" y="2223821"/>
            <a:ext cx="307238" cy="307238"/>
          </a:xfrm>
          <a:prstGeom prst="rect">
            <a:avLst/>
          </a:prstGeom>
        </p:spPr>
      </p:pic>
      <p:sp>
        <p:nvSpPr>
          <p:cNvPr id="6" name="text-82"/>
          <p:cNvSpPr txBox="1"/>
          <p:nvPr/>
        </p:nvSpPr>
        <p:spPr>
          <a:xfrm>
            <a:off x="1280160" y="2194560"/>
            <a:ext cx="5394960" cy="411480"/>
          </a:xfrm>
          <a:prstGeom prst="rect">
            <a:avLst/>
          </a:prstGeom>
          <a:noFill/>
          <a:ln/>
        </p:spPr>
        <p:txBody>
          <a:bodyPr wrap="square" lIns="0" tIns="0" rIns="0" bIns="0" rtlCol="0" anchor="t"/>
          <a:lstStyle/>
          <a:p>
            <a:pPr indent="0" marL="0">
              <a:buNone/>
            </a:pPr>
            <a:r>
              <a:rPr lang="en-US" sz="1700" dirty="0">
                <a:solidFill>
                  <a:schemeClr val="bg1"/>
                </a:solidFill>
              </a:rPr>
              <a:t>A customer is 30+ days late paying</a:t>
            </a:r>
            <a:endParaRPr lang="en-US" sz="1700" dirty="0"/>
          </a:p>
        </p:txBody>
      </p:sp>
      <p:sp>
        <p:nvSpPr>
          <p:cNvPr id="7" name="icon-bg-83"/>
          <p:cNvSpPr/>
          <p:nvPr/>
        </p:nvSpPr>
        <p:spPr>
          <a:xfrm>
            <a:off x="548640" y="2816352"/>
            <a:ext cx="548640" cy="548640"/>
          </a:xfrm>
          <a:prstGeom prst="ellipse">
            <a:avLst/>
          </a:prstGeom>
          <a:solidFill>
            <a:schemeClr val="accent4"/>
          </a:solidFill>
          <a:ln w="12700">
            <a:solidFill>
              <a:schemeClr val="accent4"/>
            </a:solidFill>
            <a:prstDash val="solid"/>
          </a:ln>
        </p:spPr>
      </p:sp>
      <p:pic>
        <p:nvPicPr>
          <p:cNvPr id="8" name="icon-84" descr="preencoded.png">    </p:cNvPr>
          <p:cNvPicPr>
            <a:picLocks noChangeAspect="1"/>
          </p:cNvPicPr>
          <p:nvPr/>
        </p:nvPicPr>
        <p:blipFill>
          <a:blip r:embed="rId2"/>
          <a:stretch>
            <a:fillRect/>
          </a:stretch>
        </p:blipFill>
        <p:spPr>
          <a:xfrm>
            <a:off x="669341" y="2937053"/>
            <a:ext cx="307238" cy="307238"/>
          </a:xfrm>
          <a:prstGeom prst="rect">
            <a:avLst/>
          </a:prstGeom>
        </p:spPr>
      </p:pic>
      <p:sp>
        <p:nvSpPr>
          <p:cNvPr id="9" name="text-85"/>
          <p:cNvSpPr txBox="1"/>
          <p:nvPr/>
        </p:nvSpPr>
        <p:spPr>
          <a:xfrm>
            <a:off x="1280160" y="2907792"/>
            <a:ext cx="5394960" cy="411480"/>
          </a:xfrm>
          <a:prstGeom prst="rect">
            <a:avLst/>
          </a:prstGeom>
          <a:noFill/>
          <a:ln/>
        </p:spPr>
        <p:txBody>
          <a:bodyPr wrap="square" lIns="0" tIns="0" rIns="0" bIns="0" rtlCol="0" anchor="t"/>
          <a:lstStyle/>
          <a:p>
            <a:pPr indent="0" marL="0">
              <a:buNone/>
            </a:pPr>
            <a:r>
              <a:rPr lang="en-US" sz="1700" dirty="0">
                <a:solidFill>
                  <a:schemeClr val="bg1"/>
                </a:solidFill>
              </a:rPr>
              <a:t>Restocks cost more than the money that came in</a:t>
            </a:r>
            <a:endParaRPr lang="en-US" sz="1700" dirty="0"/>
          </a:p>
        </p:txBody>
      </p:sp>
      <p:sp>
        <p:nvSpPr>
          <p:cNvPr id="10" name="icon-bg-86"/>
          <p:cNvSpPr/>
          <p:nvPr/>
        </p:nvSpPr>
        <p:spPr>
          <a:xfrm>
            <a:off x="548640" y="3529584"/>
            <a:ext cx="548640" cy="548640"/>
          </a:xfrm>
          <a:prstGeom prst="ellipse">
            <a:avLst/>
          </a:prstGeom>
          <a:solidFill>
            <a:schemeClr val="accent4"/>
          </a:solidFill>
          <a:ln w="12700">
            <a:solidFill>
              <a:schemeClr val="accent4"/>
            </a:solidFill>
            <a:prstDash val="solid"/>
          </a:ln>
        </p:spPr>
      </p:sp>
      <p:pic>
        <p:nvPicPr>
          <p:cNvPr id="11" name="icon-87" descr="preencoded.png">    </p:cNvPr>
          <p:cNvPicPr>
            <a:picLocks noChangeAspect="1"/>
          </p:cNvPicPr>
          <p:nvPr/>
        </p:nvPicPr>
        <p:blipFill>
          <a:blip r:embed="rId3"/>
          <a:stretch>
            <a:fillRect/>
          </a:stretch>
        </p:blipFill>
        <p:spPr>
          <a:xfrm>
            <a:off x="669341" y="3650285"/>
            <a:ext cx="307238" cy="307238"/>
          </a:xfrm>
          <a:prstGeom prst="rect">
            <a:avLst/>
          </a:prstGeom>
        </p:spPr>
      </p:pic>
      <p:sp>
        <p:nvSpPr>
          <p:cNvPr id="12" name="text-88"/>
          <p:cNvSpPr txBox="1"/>
          <p:nvPr/>
        </p:nvSpPr>
        <p:spPr>
          <a:xfrm>
            <a:off x="1280160" y="3621024"/>
            <a:ext cx="5394960" cy="411480"/>
          </a:xfrm>
          <a:prstGeom prst="rect">
            <a:avLst/>
          </a:prstGeom>
          <a:noFill/>
          <a:ln/>
        </p:spPr>
        <p:txBody>
          <a:bodyPr wrap="square" lIns="0" tIns="0" rIns="0" bIns="0" rtlCol="0" anchor="t"/>
          <a:lstStyle/>
          <a:p>
            <a:pPr indent="0" marL="0">
              <a:buNone/>
            </a:pPr>
            <a:r>
              <a:rPr lang="en-US" sz="1700" dirty="0">
                <a:solidFill>
                  <a:schemeClr val="bg1"/>
                </a:solidFill>
              </a:rPr>
              <a:t>Credit owed rose 20%+ in a week</a:t>
            </a:r>
            <a:endParaRPr lang="en-US" sz="1700" dirty="0"/>
          </a:p>
        </p:txBody>
      </p:sp>
      <p:sp>
        <p:nvSpPr>
          <p:cNvPr id="13" name="icon-bg-89"/>
          <p:cNvSpPr/>
          <p:nvPr/>
        </p:nvSpPr>
        <p:spPr>
          <a:xfrm>
            <a:off x="548640" y="4242816"/>
            <a:ext cx="548640" cy="548640"/>
          </a:xfrm>
          <a:prstGeom prst="ellipse">
            <a:avLst/>
          </a:prstGeom>
          <a:solidFill>
            <a:schemeClr val="accent4"/>
          </a:solidFill>
          <a:ln w="12700">
            <a:solidFill>
              <a:schemeClr val="accent4"/>
            </a:solidFill>
            <a:prstDash val="solid"/>
          </a:ln>
        </p:spPr>
      </p:sp>
      <p:pic>
        <p:nvPicPr>
          <p:cNvPr id="14" name="icon-90" descr="preencoded.png">    </p:cNvPr>
          <p:cNvPicPr>
            <a:picLocks noChangeAspect="1"/>
          </p:cNvPicPr>
          <p:nvPr/>
        </p:nvPicPr>
        <p:blipFill>
          <a:blip r:embed="rId4"/>
          <a:stretch>
            <a:fillRect/>
          </a:stretch>
        </p:blipFill>
        <p:spPr>
          <a:xfrm>
            <a:off x="669341" y="4363517"/>
            <a:ext cx="307238" cy="307238"/>
          </a:xfrm>
          <a:prstGeom prst="rect">
            <a:avLst/>
          </a:prstGeom>
        </p:spPr>
      </p:pic>
      <p:sp>
        <p:nvSpPr>
          <p:cNvPr id="15" name="text-91"/>
          <p:cNvSpPr txBox="1"/>
          <p:nvPr/>
        </p:nvSpPr>
        <p:spPr>
          <a:xfrm>
            <a:off x="1280160" y="4334256"/>
            <a:ext cx="5394960" cy="411480"/>
          </a:xfrm>
          <a:prstGeom prst="rect">
            <a:avLst/>
          </a:prstGeom>
          <a:noFill/>
          <a:ln/>
        </p:spPr>
        <p:txBody>
          <a:bodyPr wrap="square" lIns="0" tIns="0" rIns="0" bIns="0" rtlCol="0" anchor="t"/>
          <a:lstStyle/>
          <a:p>
            <a:pPr indent="0" marL="0">
              <a:buNone/>
            </a:pPr>
            <a:r>
              <a:rPr lang="en-US" sz="1700" dirty="0">
                <a:solidFill>
                  <a:schemeClr val="bg1"/>
                </a:solidFill>
              </a:rPr>
              <a:t>Sales fell 25%+ from the week before</a:t>
            </a:r>
            <a:endParaRPr lang="en-US" sz="1700" dirty="0"/>
          </a:p>
        </p:txBody>
      </p:sp>
      <p:sp>
        <p:nvSpPr>
          <p:cNvPr id="16" name="card-92"/>
          <p:cNvSpPr/>
          <p:nvPr/>
        </p:nvSpPr>
        <p:spPr>
          <a:xfrm>
            <a:off x="548640" y="5029200"/>
            <a:ext cx="6126480" cy="1051560"/>
          </a:xfrm>
          <a:prstGeom prst="roundRect">
            <a:avLst>
              <a:gd name="adj" fmla="val 10435"/>
            </a:avLst>
          </a:prstGeom>
          <a:solidFill>
            <a:schemeClr val="tx2"/>
          </a:solidFill>
          <a:ln w="12700">
            <a:solidFill>
              <a:schemeClr val="accent2"/>
            </a:solidFill>
            <a:prstDash val="solid"/>
          </a:ln>
        </p:spPr>
      </p:sp>
      <p:sp>
        <p:nvSpPr>
          <p:cNvPr id="17" name="icon-bg-93"/>
          <p:cNvSpPr/>
          <p:nvPr/>
        </p:nvSpPr>
        <p:spPr>
          <a:xfrm>
            <a:off x="777240" y="5212080"/>
            <a:ext cx="640080" cy="640080"/>
          </a:xfrm>
          <a:prstGeom prst="ellipse">
            <a:avLst/>
          </a:prstGeom>
          <a:solidFill>
            <a:schemeClr val="accent2"/>
          </a:solidFill>
          <a:ln w="12700">
            <a:solidFill>
              <a:schemeClr val="accent2"/>
            </a:solidFill>
            <a:prstDash val="solid"/>
          </a:ln>
        </p:spPr>
      </p:sp>
      <p:pic>
        <p:nvPicPr>
          <p:cNvPr id="18" name="icon-94" descr="preencoded.png">    </p:cNvPr>
          <p:cNvPicPr>
            <a:picLocks noChangeAspect="1"/>
          </p:cNvPicPr>
          <p:nvPr/>
        </p:nvPicPr>
        <p:blipFill>
          <a:blip r:embed="rId5"/>
          <a:stretch>
            <a:fillRect/>
          </a:stretch>
        </p:blipFill>
        <p:spPr>
          <a:xfrm>
            <a:off x="918058" y="5352898"/>
            <a:ext cx="358445" cy="358445"/>
          </a:xfrm>
          <a:prstGeom prst="rect">
            <a:avLst/>
          </a:prstGeom>
        </p:spPr>
      </p:pic>
      <p:sp>
        <p:nvSpPr>
          <p:cNvPr id="19" name="text-95"/>
          <p:cNvSpPr txBox="1"/>
          <p:nvPr/>
        </p:nvSpPr>
        <p:spPr>
          <a:xfrm>
            <a:off x="1600200" y="5138928"/>
            <a:ext cx="4937760" cy="365760"/>
          </a:xfrm>
          <a:prstGeom prst="rect">
            <a:avLst/>
          </a:prstGeom>
          <a:noFill/>
          <a:ln/>
        </p:spPr>
        <p:txBody>
          <a:bodyPr wrap="square" lIns="0" tIns="0" rIns="0" bIns="0" rtlCol="0" anchor="t"/>
          <a:lstStyle/>
          <a:p>
            <a:pPr indent="0" marL="0">
              <a:buNone/>
            </a:pPr>
            <a:r>
              <a:rPr lang="en-US" sz="1700" b="1" dirty="0">
                <a:solidFill>
                  <a:schemeClr val="bg1"/>
                </a:solidFill>
              </a:rPr>
              <a:t>One tap: AI advice in the owner's language</a:t>
            </a:r>
            <a:endParaRPr lang="en-US" sz="1700" dirty="0"/>
          </a:p>
        </p:txBody>
      </p:sp>
      <p:sp>
        <p:nvSpPr>
          <p:cNvPr id="20" name="text-96"/>
          <p:cNvSpPr txBox="1"/>
          <p:nvPr/>
        </p:nvSpPr>
        <p:spPr>
          <a:xfrm>
            <a:off x="1600200" y="5513832"/>
            <a:ext cx="4937760" cy="411480"/>
          </a:xfrm>
          <a:prstGeom prst="rect">
            <a:avLst/>
          </a:prstGeom>
          <a:noFill/>
          <a:ln/>
        </p:spPr>
        <p:txBody>
          <a:bodyPr wrap="square" lIns="0" tIns="0" rIns="0" bIns="0" rtlCol="0" anchor="t"/>
          <a:lstStyle/>
          <a:p>
            <a:pPr indent="0" marL="0">
              <a:buNone/>
            </a:pPr>
            <a:r>
              <a:rPr lang="en-US" sz="1400" dirty="0">
                <a:solidFill>
                  <a:schemeClr val="bg2"/>
                </a:solidFill>
              </a:rPr>
              <a:t>Only called on tap and cached for the day: about US$0.002 a tip</a:t>
            </a:r>
            <a:endParaRPr lang="en-US" sz="1400" dirty="0"/>
          </a:p>
        </p:txBody>
      </p:sp>
      <p:sp>
        <p:nvSpPr>
          <p:cNvPr id="21" name="frame-97"/>
          <p:cNvSpPr/>
          <p:nvPr/>
        </p:nvSpPr>
        <p:spPr>
          <a:xfrm>
            <a:off x="7150608" y="1344168"/>
            <a:ext cx="4535424" cy="3478784"/>
          </a:xfrm>
          <a:prstGeom prst="roundRect">
            <a:avLst>
              <a:gd name="adj" fmla="val 4731"/>
            </a:avLst>
          </a:prstGeom>
          <a:solidFill>
            <a:schemeClr val="tx2"/>
          </a:solidFill>
          <a:ln w="19050">
            <a:solidFill>
              <a:schemeClr val="accent1"/>
            </a:solidFill>
            <a:prstDash val="solid"/>
          </a:ln>
        </p:spPr>
      </p:sp>
      <p:pic>
        <p:nvPicPr>
          <p:cNvPr id="22" name="screenshot-ai-advice" descr="C:\Users\User\AppData\Local\Temp\claude\d--ClaudeCodeProjects-MobileApp\5a1abb58-9612-4bef-aed6-5d1b8630541e\scratchpad\deck\shots\advice2.png">    </p:cNvPr>
          <p:cNvPicPr>
            <a:picLocks noChangeAspect="1"/>
          </p:cNvPicPr>
          <p:nvPr/>
        </p:nvPicPr>
        <p:blipFill>
          <a:blip r:embed="rId6"/>
          <a:stretch>
            <a:fillRect/>
          </a:stretch>
        </p:blipFill>
        <p:spPr>
          <a:xfrm>
            <a:off x="7223760" y="1417320"/>
            <a:ext cx="4389120" cy="3332480"/>
          </a:xfrm>
          <a:prstGeom prst="rect">
            <a:avLst/>
          </a:prstGeom>
        </p:spPr>
      </p:pic>
      <p:sp>
        <p:nvSpPr>
          <p:cNvPr id="23" name="text-98"/>
          <p:cNvSpPr txBox="1"/>
          <p:nvPr/>
        </p:nvSpPr>
        <p:spPr>
          <a:xfrm>
            <a:off x="7223760" y="4932680"/>
            <a:ext cx="4389120" cy="274320"/>
          </a:xfrm>
          <a:prstGeom prst="rect">
            <a:avLst/>
          </a:prstGeom>
          <a:noFill/>
          <a:ln/>
        </p:spPr>
        <p:txBody>
          <a:bodyPr wrap="square" lIns="0" tIns="0" rIns="0" bIns="0" rtlCol="0" anchor="t"/>
          <a:lstStyle/>
          <a:p>
            <a:pPr algn="ctr" indent="0" marL="0">
              <a:buNone/>
            </a:pPr>
            <a:r>
              <a:rPr lang="en-US" sz="1100" dirty="0">
                <a:solidFill>
                  <a:schemeClr val="bg2"/>
                </a:solidFill>
              </a:rPr>
              <a:t>Live screenshot: AI advice on the Money health card</a:t>
            </a:r>
            <a:endParaRPr lang="en-US" sz="11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Financing matching shows which loans a shop is ready for</a:t>
            </a:r>
            <a:endParaRPr lang="en-US" sz="3200" dirty="0"/>
          </a:p>
        </p:txBody>
      </p:sp>
      <p:sp>
        <p:nvSpPr>
          <p:cNvPr id="3" name="frame-99"/>
          <p:cNvSpPr/>
          <p:nvPr/>
        </p:nvSpPr>
        <p:spPr>
          <a:xfrm>
            <a:off x="548640" y="1344168"/>
            <a:ext cx="2615184" cy="2843784"/>
          </a:xfrm>
          <a:prstGeom prst="roundRect">
            <a:avLst>
              <a:gd name="adj" fmla="val 6294"/>
            </a:avLst>
          </a:prstGeom>
          <a:solidFill>
            <a:schemeClr val="tx2"/>
          </a:solidFill>
          <a:ln w="19050">
            <a:solidFill>
              <a:schemeClr val="accent1"/>
            </a:solidFill>
            <a:prstDash val="solid"/>
          </a:ln>
        </p:spPr>
      </p:sp>
      <p:pic>
        <p:nvPicPr>
          <p:cNvPr id="4" name="screenshot-financing" descr="C:\Users\User\AppData\Local\Temp\claude\d--ClaudeCodeProjects-MobileApp\5a1abb58-9612-4bef-aed6-5d1b8630541e\scratchpad\deck\shots\finance.png">    </p:cNvPr>
          <p:cNvPicPr>
            <a:picLocks noChangeAspect="1"/>
          </p:cNvPicPr>
          <p:nvPr/>
        </p:nvPicPr>
        <p:blipFill>
          <a:blip r:embed="rId1"/>
          <a:stretch>
            <a:fillRect/>
          </a:stretch>
        </p:blipFill>
        <p:spPr>
          <a:xfrm>
            <a:off x="621792" y="1417320"/>
            <a:ext cx="2468880" cy="2697480"/>
          </a:xfrm>
          <a:prstGeom prst="rect">
            <a:avLst/>
          </a:prstGeom>
        </p:spPr>
      </p:pic>
      <p:graphicFrame>
        <p:nvGraphicFramePr>
          <p:cNvPr id="7" name="financing-rules-table"/>
          <p:cNvGraphicFramePr>
            <a:graphicFrameLocks noGrp="1"/>
          </p:cNvGraphicFramePr>
          <p:nvPr>
            <p:extLst>
              <p:ext uri="{D42A27DB-BD31-4B8C-83A1-F6EECF244321}">
                <p14:modId xmlns:p14="http://schemas.microsoft.com/office/powerpoint/2010/main" val="1579011935"/>
              </p:ext>
            </p:extLst>
          </p:nvPr>
        </p:nvGraphicFramePr>
        <p:xfrm>
          <a:off x="3429000" y="1325880"/>
          <a:ext cx="8183880" cy="914400"/>
        </p:xfrm>
        <a:graphic>
          <a:graphicData uri="http://schemas.openxmlformats.org/drawingml/2006/table">
            <a:tbl>
              <a:tblPr/>
              <a:tblGrid>
                <a:gridCol w="2423160"/>
                <a:gridCol w="3566160"/>
                <a:gridCol w="2194560"/>
              </a:tblGrid>
              <a:tr h="502920">
                <a:tc>
                  <a:txBody>
                    <a:bodyPr/>
                    <a:lstStyle/>
                    <a:p>
                      <a:pPr indent="0" marL="0">
                        <a:buNone/>
                      </a:pPr>
                      <a:r>
                        <a:rPr lang="en-US" sz="1400" b="1" dirty="0">
                          <a:solidFill>
                            <a:srgbClr val="FFFFFF"/>
                          </a:solidFill>
                        </a:rPr>
                        <a:t>Example loan type</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141C42"/>
                    </a:solidFill>
                  </a:tcPr>
                </a:tc>
                <a:tc>
                  <a:txBody>
                    <a:bodyPr/>
                    <a:lstStyle/>
                    <a:p>
                      <a:pPr indent="0" marL="0">
                        <a:buNone/>
                      </a:pPr>
                      <a:r>
                        <a:rPr lang="en-US" sz="1400" b="1" dirty="0">
                          <a:solidFill>
                            <a:srgbClr val="FFFFFF"/>
                          </a:solidFill>
                        </a:rPr>
                        <a:t>Fits when the shop has…</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141C42"/>
                    </a:solidFill>
                  </a:tcPr>
                </a:tc>
                <a:tc>
                  <a:txBody>
                    <a:bodyPr/>
                    <a:lstStyle/>
                    <a:p>
                      <a:pPr indent="0" marL="0">
                        <a:buNone/>
                      </a:pPr>
                      <a:r>
                        <a:rPr lang="en-US" sz="1400" b="1" dirty="0">
                          <a:solidFill>
                            <a:srgbClr val="FFFFFF"/>
                          </a:solidFill>
                        </a:rPr>
                        <a:t>Shown amount</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141C42"/>
                    </a:solidFill>
                  </a:tcPr>
                </a:tc>
              </a:tr>
              <a:tr h="502920">
                <a:tc>
                  <a:txBody>
                    <a:bodyPr/>
                    <a:lstStyle/>
                    <a:p>
                      <a:pPr indent="0" marL="0">
                        <a:buNone/>
                      </a:pPr>
                      <a:r>
                        <a:rPr lang="en-US" sz="1400" b="1" dirty="0">
                          <a:solidFill>
                            <a:srgbClr val="FFFFFF"/>
                          </a:solidFill>
                        </a:rPr>
                        <a:t>Supplier credit</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0B1230"/>
                    </a:solidFill>
                  </a:tcPr>
                </a:tc>
                <a:tc>
                  <a:txBody>
                    <a:bodyPr/>
                    <a:lstStyle/>
                    <a:p>
                      <a:pPr indent="0" marL="0">
                        <a:buNone/>
                      </a:pPr>
                      <a:r>
                        <a:rPr lang="en-US" sz="1400" dirty="0">
                          <a:solidFill>
                            <a:srgbClr val="B4BEDF"/>
                          </a:solidFill>
                        </a:rPr>
                        <a:t>3+ months trading, restocks, sales in 8 of 12 weeks</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0B1230"/>
                    </a:solidFill>
                  </a:tcPr>
                </a:tc>
                <a:tc>
                  <a:txBody>
                    <a:bodyPr/>
                    <a:lstStyle/>
                    <a:p>
                      <a:pPr indent="0" marL="0">
                        <a:buNone/>
                      </a:pPr>
                      <a:r>
                        <a:rPr lang="en-US" sz="1400" dirty="0">
                          <a:solidFill>
                            <a:srgbClr val="B4BEDF"/>
                          </a:solidFill>
                        </a:rPr>
                        <a:t>~1 month of restocks</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0B1230"/>
                    </a:solidFill>
                  </a:tcPr>
                </a:tc>
              </a:tr>
              <a:tr h="502920">
                <a:tc>
                  <a:txBody>
                    <a:bodyPr/>
                    <a:lstStyle/>
                    <a:p>
                      <a:pPr indent="0" marL="0">
                        <a:buNone/>
                      </a:pPr>
                      <a:r>
                        <a:rPr lang="en-US" sz="1400" b="1" dirty="0">
                          <a:solidFill>
                            <a:srgbClr val="FFFFFF"/>
                          </a:solidFill>
                        </a:rPr>
                        <a:t>Mobile-wallet small loan</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0B1230"/>
                    </a:solidFill>
                  </a:tcPr>
                </a:tc>
                <a:tc>
                  <a:txBody>
                    <a:bodyPr/>
                    <a:lstStyle/>
                    <a:p>
                      <a:pPr indent="0" marL="0">
                        <a:buNone/>
                      </a:pPr>
                      <a:r>
                        <a:rPr lang="en-US" sz="1400" dirty="0">
                          <a:solidFill>
                            <a:srgbClr val="B4BEDF"/>
                          </a:solidFill>
                        </a:rPr>
                        <a:t>3+ months trading, 10%+ of sales digital</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0B1230"/>
                    </a:solidFill>
                  </a:tcPr>
                </a:tc>
                <a:tc>
                  <a:txBody>
                    <a:bodyPr/>
                    <a:lstStyle/>
                    <a:p>
                      <a:pPr indent="0" marL="0">
                        <a:buNone/>
                      </a:pPr>
                      <a:r>
                        <a:rPr lang="en-US" sz="1400" dirty="0">
                          <a:solidFill>
                            <a:srgbClr val="B4BEDF"/>
                          </a:solidFill>
                        </a:rPr>
                        <a:t>~1 month of digital sales</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0B1230"/>
                    </a:solidFill>
                  </a:tcPr>
                </a:tc>
              </a:tr>
              <a:tr h="502920">
                <a:tc>
                  <a:txBody>
                    <a:bodyPr/>
                    <a:lstStyle/>
                    <a:p>
                      <a:pPr indent="0" marL="0">
                        <a:buNone/>
                      </a:pPr>
                      <a:r>
                        <a:rPr lang="en-US" sz="1400" b="1" dirty="0">
                          <a:solidFill>
                            <a:srgbClr val="FFFFFF"/>
                          </a:solidFill>
                        </a:rPr>
                        <a:t>Microfinance shop loan</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0B1230"/>
                    </a:solidFill>
                  </a:tcPr>
                </a:tc>
                <a:tc>
                  <a:txBody>
                    <a:bodyPr/>
                    <a:lstStyle/>
                    <a:p>
                      <a:pPr indent="0" marL="0">
                        <a:buNone/>
                      </a:pPr>
                      <a:r>
                        <a:rPr lang="en-US" sz="1400" dirty="0">
                          <a:solidFill>
                            <a:srgbClr val="B4BEDF"/>
                          </a:solidFill>
                        </a:rPr>
                        <a:t>6+ months trading, sales in 10 of 12 weeks</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0B1230"/>
                    </a:solidFill>
                  </a:tcPr>
                </a:tc>
                <a:tc>
                  <a:txBody>
                    <a:bodyPr/>
                    <a:lstStyle/>
                    <a:p>
                      <a:pPr indent="0" marL="0">
                        <a:buNone/>
                      </a:pPr>
                      <a:r>
                        <a:rPr lang="en-US" sz="1400" dirty="0">
                          <a:solidFill>
                            <a:srgbClr val="B4BEDF"/>
                          </a:solidFill>
                        </a:rPr>
                        <a:t>~1 month of sales</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0B1230"/>
                    </a:solidFill>
                  </a:tcPr>
                </a:tc>
              </a:tr>
              <a:tr h="502920">
                <a:tc>
                  <a:txBody>
                    <a:bodyPr/>
                    <a:lstStyle/>
                    <a:p>
                      <a:pPr indent="0" marL="0">
                        <a:buNone/>
                      </a:pPr>
                      <a:r>
                        <a:rPr lang="en-US" sz="1400" b="1" dirty="0">
                          <a:solidFill>
                            <a:srgbClr val="FFFFFF"/>
                          </a:solidFill>
                        </a:rPr>
                        <a:t>Bank SME loan</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0B1230"/>
                    </a:solidFill>
                  </a:tcPr>
                </a:tc>
                <a:tc>
                  <a:txBody>
                    <a:bodyPr/>
                    <a:lstStyle/>
                    <a:p>
                      <a:pPr indent="0" marL="0">
                        <a:buNone/>
                      </a:pPr>
                      <a:r>
                        <a:rPr lang="en-US" sz="1400" dirty="0">
                          <a:solidFill>
                            <a:srgbClr val="B4BEDF"/>
                          </a:solidFill>
                        </a:rPr>
                        <a:t>12+ months, 10%+ margin, low credit owed</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0B1230"/>
                    </a:solidFill>
                  </a:tcPr>
                </a:tc>
                <a:tc>
                  <a:txBody>
                    <a:bodyPr/>
                    <a:lstStyle/>
                    <a:p>
                      <a:pPr indent="0" marL="0">
                        <a:buNone/>
                      </a:pPr>
                      <a:r>
                        <a:rPr lang="en-US" sz="1400" dirty="0">
                          <a:solidFill>
                            <a:srgbClr val="B4BEDF"/>
                          </a:solidFill>
                        </a:rPr>
                        <a:t>~3 months of sales</a:t>
                      </a:r>
                      <a:endParaRPr lang="en-US" sz="1400" dirty="0"/>
                    </a:p>
                  </a:txBody>
                  <a:tcPr marL="73152" marR="73152" marT="73152" marB="73152" anchor="ctr">
                    <a:lnL w="9525" cap="flat" cmpd="sng" algn="ctr">
                      <a:solidFill>
                        <a:srgbClr val="2A3570"/>
                      </a:solidFill>
                      <a:prstDash val="solid"/>
                      <a:round/>
                      <a:headEnd type="none" w="med" len="med"/>
                      <a:tailEnd type="none" w="med" len="med"/>
                    </a:lnL>
                    <a:lnR w="9525" cap="flat" cmpd="sng" algn="ctr">
                      <a:solidFill>
                        <a:srgbClr val="2A3570"/>
                      </a:solidFill>
                      <a:prstDash val="solid"/>
                      <a:round/>
                      <a:headEnd type="none" w="med" len="med"/>
                      <a:tailEnd type="none" w="med" len="med"/>
                    </a:lnR>
                    <a:lnT w="9525" cap="flat" cmpd="sng" algn="ctr">
                      <a:solidFill>
                        <a:srgbClr val="2A3570"/>
                      </a:solidFill>
                      <a:prstDash val="solid"/>
                      <a:round/>
                      <a:headEnd type="none" w="med" len="med"/>
                      <a:tailEnd type="none" w="med" len="med"/>
                    </a:lnT>
                    <a:lnB w="9525" cap="flat" cmpd="sng" algn="ctr">
                      <a:solidFill>
                        <a:srgbClr val="2A3570"/>
                      </a:solidFill>
                      <a:prstDash val="solid"/>
                      <a:round/>
                      <a:headEnd type="none" w="med" len="med"/>
                      <a:tailEnd type="none" w="med" len="med"/>
                    </a:lnB>
                    <a:solidFill>
                      <a:srgbClr val="0B1230"/>
                    </a:solidFill>
                  </a:tcPr>
                </a:tc>
              </a:tr>
            </a:tbl>
          </a:graphicData>
        </a:graphic>
      </p:graphicFrame>
      <p:sp>
        <p:nvSpPr>
          <p:cNvPr id="6" name="text-100"/>
          <p:cNvSpPr txBox="1"/>
          <p:nvPr/>
        </p:nvSpPr>
        <p:spPr>
          <a:xfrm>
            <a:off x="3429000" y="4069080"/>
            <a:ext cx="8183880" cy="685800"/>
          </a:xfrm>
          <a:prstGeom prst="rect">
            <a:avLst/>
          </a:prstGeom>
          <a:noFill/>
          <a:ln/>
        </p:spPr>
        <p:txBody>
          <a:bodyPr wrap="square" lIns="0" tIns="0" rIns="0" bIns="0" rtlCol="0" anchor="t"/>
          <a:lstStyle/>
          <a:p>
            <a:pPr indent="0" marL="0">
              <a:buNone/>
            </a:pPr>
            <a:r>
              <a:rPr lang="en-US" sz="1400" dirty="0">
                <a:solidFill>
                  <a:schemeClr val="bg2"/>
                </a:solidFill>
              </a:rPr>
              <a:t>Each one shows “Fits you” with the reason, or “Not yet” with what to do next (e.g. “Keep trading 2 more months”). Example loan types, not lender offers.</a:t>
            </a:r>
            <a:endParaRPr lang="en-US" sz="1400" dirty="0"/>
          </a:p>
        </p:txBody>
      </p:sp>
      <p:sp>
        <p:nvSpPr>
          <p:cNvPr id="7" name="text-101"/>
          <p:cNvSpPr txBox="1"/>
          <p:nvPr/>
        </p:nvSpPr>
        <p:spPr>
          <a:xfrm>
            <a:off x="3429000" y="4846320"/>
            <a:ext cx="8183880" cy="365760"/>
          </a:xfrm>
          <a:prstGeom prst="rect">
            <a:avLst/>
          </a:prstGeom>
          <a:noFill/>
          <a:ln/>
        </p:spPr>
        <p:txBody>
          <a:bodyPr wrap="square" lIns="0" tIns="0" rIns="0" bIns="0" rtlCol="0" anchor="t"/>
          <a:lstStyle/>
          <a:p>
            <a:pPr indent="0" marL="0">
              <a:buNone/>
            </a:pPr>
            <a:r>
              <a:rPr lang="en-US" sz="1700" b="1" dirty="0">
                <a:solidFill>
                  <a:schemeClr val="bg1"/>
                </a:solidFill>
              </a:rPr>
              <a:t>Topic E covered end to end</a:t>
            </a:r>
            <a:endParaRPr lang="en-US" sz="1700" dirty="0"/>
          </a:p>
        </p:txBody>
      </p:sp>
      <p:sp>
        <p:nvSpPr>
          <p:cNvPr id="8" name="card-102"/>
          <p:cNvSpPr/>
          <p:nvPr/>
        </p:nvSpPr>
        <p:spPr>
          <a:xfrm>
            <a:off x="3429000" y="5303520"/>
            <a:ext cx="2651760" cy="685800"/>
          </a:xfrm>
          <a:prstGeom prst="roundRect">
            <a:avLst>
              <a:gd name="adj" fmla="val 16000"/>
            </a:avLst>
          </a:prstGeom>
          <a:solidFill>
            <a:schemeClr val="tx2"/>
          </a:solidFill>
          <a:ln w="12700">
            <a:solidFill>
              <a:schemeClr val="accent3"/>
            </a:solidFill>
            <a:prstDash val="solid"/>
          </a:ln>
        </p:spPr>
      </p:sp>
      <p:pic>
        <p:nvPicPr>
          <p:cNvPr id="9" name="check-103" descr="preencoded.png">    </p:cNvPr>
          <p:cNvPicPr>
            <a:picLocks noChangeAspect="1"/>
          </p:cNvPicPr>
          <p:nvPr/>
        </p:nvPicPr>
        <p:blipFill>
          <a:blip r:embed="rId2"/>
          <a:stretch>
            <a:fillRect/>
          </a:stretch>
        </p:blipFill>
        <p:spPr>
          <a:xfrm>
            <a:off x="3566160" y="5468112"/>
            <a:ext cx="347472" cy="347472"/>
          </a:xfrm>
          <a:prstGeom prst="rect">
            <a:avLst/>
          </a:prstGeom>
        </p:spPr>
      </p:pic>
      <p:sp>
        <p:nvSpPr>
          <p:cNvPr id="10" name="text-104"/>
          <p:cNvSpPr txBox="1"/>
          <p:nvPr/>
        </p:nvSpPr>
        <p:spPr>
          <a:xfrm>
            <a:off x="3995928" y="5358384"/>
            <a:ext cx="2011680" cy="566928"/>
          </a:xfrm>
          <a:prstGeom prst="rect">
            <a:avLst/>
          </a:prstGeom>
          <a:noFill/>
          <a:ln/>
        </p:spPr>
        <p:txBody>
          <a:bodyPr wrap="square" lIns="0" tIns="0" rIns="0" bIns="0" rtlCol="0" anchor="ctr"/>
          <a:lstStyle/>
          <a:p>
            <a:pPr indent="0" marL="0">
              <a:buNone/>
            </a:pPr>
            <a:r>
              <a:rPr lang="en-US" sz="1350" dirty="0">
                <a:solidFill>
                  <a:schemeClr val="bg1"/>
                </a:solidFill>
              </a:rPr>
              <a:t>Financing-option matching</a:t>
            </a:r>
            <a:endParaRPr lang="en-US" sz="1350" dirty="0"/>
          </a:p>
        </p:txBody>
      </p:sp>
      <p:sp>
        <p:nvSpPr>
          <p:cNvPr id="11" name="card-105"/>
          <p:cNvSpPr/>
          <p:nvPr/>
        </p:nvSpPr>
        <p:spPr>
          <a:xfrm>
            <a:off x="6190488" y="5303520"/>
            <a:ext cx="2651760" cy="685800"/>
          </a:xfrm>
          <a:prstGeom prst="roundRect">
            <a:avLst>
              <a:gd name="adj" fmla="val 16000"/>
            </a:avLst>
          </a:prstGeom>
          <a:solidFill>
            <a:schemeClr val="tx2"/>
          </a:solidFill>
          <a:ln w="12700">
            <a:solidFill>
              <a:schemeClr val="accent3"/>
            </a:solidFill>
            <a:prstDash val="solid"/>
          </a:ln>
        </p:spPr>
      </p:sp>
      <p:pic>
        <p:nvPicPr>
          <p:cNvPr id="12" name="check-106" descr="preencoded.png">    </p:cNvPr>
          <p:cNvPicPr>
            <a:picLocks noChangeAspect="1"/>
          </p:cNvPicPr>
          <p:nvPr/>
        </p:nvPicPr>
        <p:blipFill>
          <a:blip r:embed="rId3"/>
          <a:stretch>
            <a:fillRect/>
          </a:stretch>
        </p:blipFill>
        <p:spPr>
          <a:xfrm>
            <a:off x="6327648" y="5468112"/>
            <a:ext cx="347472" cy="347472"/>
          </a:xfrm>
          <a:prstGeom prst="rect">
            <a:avLst/>
          </a:prstGeom>
        </p:spPr>
      </p:pic>
      <p:sp>
        <p:nvSpPr>
          <p:cNvPr id="13" name="text-107"/>
          <p:cNvSpPr txBox="1"/>
          <p:nvPr/>
        </p:nvSpPr>
        <p:spPr>
          <a:xfrm>
            <a:off x="6757416" y="5358384"/>
            <a:ext cx="2011680" cy="566928"/>
          </a:xfrm>
          <a:prstGeom prst="rect">
            <a:avLst/>
          </a:prstGeom>
          <a:noFill/>
          <a:ln/>
        </p:spPr>
        <p:txBody>
          <a:bodyPr wrap="square" lIns="0" tIns="0" rIns="0" bIns="0" rtlCol="0" anchor="ctr"/>
          <a:lstStyle/>
          <a:p>
            <a:pPr indent="0" marL="0">
              <a:buNone/>
            </a:pPr>
            <a:r>
              <a:rPr lang="en-US" sz="1350" dirty="0">
                <a:solidFill>
                  <a:schemeClr val="bg1"/>
                </a:solidFill>
              </a:rPr>
              <a:t>Cash-flow management with alerts</a:t>
            </a:r>
            <a:endParaRPr lang="en-US" sz="1350" dirty="0"/>
          </a:p>
        </p:txBody>
      </p:sp>
      <p:sp>
        <p:nvSpPr>
          <p:cNvPr id="14" name="card-108"/>
          <p:cNvSpPr/>
          <p:nvPr/>
        </p:nvSpPr>
        <p:spPr>
          <a:xfrm>
            <a:off x="8951976" y="5303520"/>
            <a:ext cx="2651760" cy="685800"/>
          </a:xfrm>
          <a:prstGeom prst="roundRect">
            <a:avLst>
              <a:gd name="adj" fmla="val 16000"/>
            </a:avLst>
          </a:prstGeom>
          <a:solidFill>
            <a:schemeClr val="tx2"/>
          </a:solidFill>
          <a:ln w="12700">
            <a:solidFill>
              <a:schemeClr val="accent3"/>
            </a:solidFill>
            <a:prstDash val="solid"/>
          </a:ln>
        </p:spPr>
      </p:sp>
      <p:pic>
        <p:nvPicPr>
          <p:cNvPr id="15" name="check-109" descr="preencoded.png">    </p:cNvPr>
          <p:cNvPicPr>
            <a:picLocks noChangeAspect="1"/>
          </p:cNvPicPr>
          <p:nvPr/>
        </p:nvPicPr>
        <p:blipFill>
          <a:blip r:embed="rId4"/>
          <a:stretch>
            <a:fillRect/>
          </a:stretch>
        </p:blipFill>
        <p:spPr>
          <a:xfrm>
            <a:off x="9089136" y="5468112"/>
            <a:ext cx="347472" cy="347472"/>
          </a:xfrm>
          <a:prstGeom prst="rect">
            <a:avLst/>
          </a:prstGeom>
        </p:spPr>
      </p:pic>
      <p:sp>
        <p:nvSpPr>
          <p:cNvPr id="16" name="text-110"/>
          <p:cNvSpPr txBox="1"/>
          <p:nvPr/>
        </p:nvSpPr>
        <p:spPr>
          <a:xfrm>
            <a:off x="9518904" y="5358384"/>
            <a:ext cx="2011680" cy="566928"/>
          </a:xfrm>
          <a:prstGeom prst="rect">
            <a:avLst/>
          </a:prstGeom>
          <a:noFill/>
          <a:ln/>
        </p:spPr>
        <p:txBody>
          <a:bodyPr wrap="square" lIns="0" tIns="0" rIns="0" bIns="0" rtlCol="0" anchor="ctr"/>
          <a:lstStyle/>
          <a:p>
            <a:pPr indent="0" marL="0">
              <a:buNone/>
            </a:pPr>
            <a:r>
              <a:rPr lang="en-US" sz="1350" dirty="0">
                <a:solidFill>
                  <a:schemeClr val="bg1"/>
                </a:solidFill>
              </a:rPr>
              <a:t>Business financial analysis</a:t>
            </a:r>
            <a:endParaRPr lang="en-US" sz="1350" dirty="0"/>
          </a:p>
        </p:txBody>
      </p:sp>
      <p:sp>
        <p:nvSpPr>
          <p:cNvPr id="17" name="text-111"/>
          <p:cNvSpPr txBox="1"/>
          <p:nvPr/>
        </p:nvSpPr>
        <p:spPr>
          <a:xfrm>
            <a:off x="621792" y="4279392"/>
            <a:ext cx="2468880" cy="274320"/>
          </a:xfrm>
          <a:prstGeom prst="rect">
            <a:avLst/>
          </a:prstGeom>
          <a:noFill/>
          <a:ln/>
        </p:spPr>
        <p:txBody>
          <a:bodyPr wrap="square" lIns="0" tIns="0" rIns="0" bIns="0" rtlCol="0" anchor="t"/>
          <a:lstStyle/>
          <a:p>
            <a:pPr algn="ctr" indent="0" marL="0">
              <a:buNone/>
            </a:pPr>
            <a:r>
              <a:rPr lang="en-US" sz="1100" dirty="0">
                <a:solidFill>
                  <a:schemeClr val="bg2"/>
                </a:solidFill>
              </a:rPr>
              <a:t>Financing screen</a:t>
            </a:r>
            <a:endParaRPr lang="en-US" sz="11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Built to be trusted with a shop's money</a:t>
            </a:r>
            <a:endParaRPr lang="en-US" sz="3200" dirty="0"/>
          </a:p>
        </p:txBody>
      </p:sp>
      <p:sp>
        <p:nvSpPr>
          <p:cNvPr id="3" name="card-112"/>
          <p:cNvSpPr/>
          <p:nvPr/>
        </p:nvSpPr>
        <p:spPr>
          <a:xfrm>
            <a:off x="548640" y="2331720"/>
            <a:ext cx="2103120" cy="1371600"/>
          </a:xfrm>
          <a:prstGeom prst="roundRect">
            <a:avLst>
              <a:gd name="adj" fmla="val 8000"/>
            </a:avLst>
          </a:prstGeom>
          <a:solidFill>
            <a:schemeClr val="tx2"/>
          </a:solidFill>
          <a:ln w="12700">
            <a:solidFill>
              <a:schemeClr val="accent1"/>
            </a:solidFill>
            <a:prstDash val="solid"/>
          </a:ln>
        </p:spPr>
      </p:sp>
      <p:sp>
        <p:nvSpPr>
          <p:cNvPr id="4" name="text-113"/>
          <p:cNvSpPr txBox="1"/>
          <p:nvPr/>
        </p:nvSpPr>
        <p:spPr>
          <a:xfrm>
            <a:off x="685800" y="2441448"/>
            <a:ext cx="1828800" cy="365760"/>
          </a:xfrm>
          <a:prstGeom prst="rect">
            <a:avLst/>
          </a:prstGeom>
          <a:noFill/>
          <a:ln/>
        </p:spPr>
        <p:txBody>
          <a:bodyPr wrap="square" lIns="0" tIns="0" rIns="0" bIns="0" rtlCol="0" anchor="t"/>
          <a:lstStyle/>
          <a:p>
            <a:pPr algn="ctr" indent="0" marL="0">
              <a:buNone/>
            </a:pPr>
            <a:r>
              <a:rPr lang="en-US" sz="1600" b="1" dirty="0">
                <a:solidFill>
                  <a:schemeClr val="bg1"/>
                </a:solidFill>
              </a:rPr>
              <a:t>Phone app</a:t>
            </a:r>
            <a:endParaRPr lang="en-US" sz="1600" dirty="0"/>
          </a:p>
        </p:txBody>
      </p:sp>
      <p:sp>
        <p:nvSpPr>
          <p:cNvPr id="5" name="text-114"/>
          <p:cNvSpPr txBox="1"/>
          <p:nvPr/>
        </p:nvSpPr>
        <p:spPr>
          <a:xfrm>
            <a:off x="685800" y="2807208"/>
            <a:ext cx="1828800" cy="822960"/>
          </a:xfrm>
          <a:prstGeom prst="rect">
            <a:avLst/>
          </a:prstGeom>
          <a:noFill/>
          <a:ln/>
        </p:spPr>
        <p:txBody>
          <a:bodyPr wrap="square" lIns="0" tIns="0" rIns="0" bIns="0" rtlCol="0" anchor="t"/>
          <a:lstStyle/>
          <a:p>
            <a:pPr algn="ctr" indent="0" marL="0">
              <a:buNone/>
            </a:pPr>
            <a:r>
              <a:rPr lang="en-US" sz="1250" dirty="0">
                <a:solidFill>
                  <a:schemeClr val="bg2"/>
                </a:solidFill>
              </a:rPr>
              <a:t>Flutter · English + Bangla · any currency</a:t>
            </a:r>
            <a:endParaRPr lang="en-US" sz="1250" dirty="0"/>
          </a:p>
        </p:txBody>
      </p:sp>
      <p:sp>
        <p:nvSpPr>
          <p:cNvPr id="6" name="card-115"/>
          <p:cNvSpPr/>
          <p:nvPr/>
        </p:nvSpPr>
        <p:spPr>
          <a:xfrm>
            <a:off x="3291840" y="1325880"/>
            <a:ext cx="2377440" cy="1371600"/>
          </a:xfrm>
          <a:prstGeom prst="roundRect">
            <a:avLst>
              <a:gd name="adj" fmla="val 8000"/>
            </a:avLst>
          </a:prstGeom>
          <a:solidFill>
            <a:schemeClr val="tx2"/>
          </a:solidFill>
          <a:ln w="12700">
            <a:solidFill>
              <a:schemeClr val="accent2"/>
            </a:solidFill>
            <a:prstDash val="solid"/>
          </a:ln>
        </p:spPr>
      </p:sp>
      <p:sp>
        <p:nvSpPr>
          <p:cNvPr id="7" name="text-116"/>
          <p:cNvSpPr txBox="1"/>
          <p:nvPr/>
        </p:nvSpPr>
        <p:spPr>
          <a:xfrm>
            <a:off x="3429000" y="1435608"/>
            <a:ext cx="2103120" cy="365760"/>
          </a:xfrm>
          <a:prstGeom prst="rect">
            <a:avLst/>
          </a:prstGeom>
          <a:noFill/>
          <a:ln/>
        </p:spPr>
        <p:txBody>
          <a:bodyPr wrap="square" lIns="0" tIns="0" rIns="0" bIns="0" rtlCol="0" anchor="t"/>
          <a:lstStyle/>
          <a:p>
            <a:pPr algn="ctr" indent="0" marL="0">
              <a:buNone/>
            </a:pPr>
            <a:r>
              <a:rPr lang="en-US" sz="1600" b="1" dirty="0">
                <a:solidFill>
                  <a:schemeClr val="bg1"/>
                </a:solidFill>
              </a:rPr>
              <a:t>Edge Functions</a:t>
            </a:r>
            <a:endParaRPr lang="en-US" sz="1600" dirty="0"/>
          </a:p>
        </p:txBody>
      </p:sp>
      <p:sp>
        <p:nvSpPr>
          <p:cNvPr id="8" name="text-117"/>
          <p:cNvSpPr txBox="1"/>
          <p:nvPr/>
        </p:nvSpPr>
        <p:spPr>
          <a:xfrm>
            <a:off x="3429000" y="1801368"/>
            <a:ext cx="2103120" cy="822960"/>
          </a:xfrm>
          <a:prstGeom prst="rect">
            <a:avLst/>
          </a:prstGeom>
          <a:noFill/>
          <a:ln/>
        </p:spPr>
        <p:txBody>
          <a:bodyPr wrap="square" lIns="0" tIns="0" rIns="0" bIns="0" rtlCol="0" anchor="t"/>
          <a:lstStyle/>
          <a:p>
            <a:pPr algn="ctr" indent="0" marL="0">
              <a:buNone/>
            </a:pPr>
            <a:r>
              <a:rPr lang="en-US" sz="1250" dirty="0">
                <a:solidFill>
                  <a:schemeClr val="bg2"/>
                </a:solidFill>
              </a:rPr>
              <a:t>Voice, scan and advice; AI key stays on the server</a:t>
            </a:r>
            <a:endParaRPr lang="en-US" sz="1250" dirty="0"/>
          </a:p>
        </p:txBody>
      </p:sp>
      <p:sp>
        <p:nvSpPr>
          <p:cNvPr id="9" name="card-118"/>
          <p:cNvSpPr/>
          <p:nvPr/>
        </p:nvSpPr>
        <p:spPr>
          <a:xfrm>
            <a:off x="6309360" y="1325880"/>
            <a:ext cx="1737360" cy="1371600"/>
          </a:xfrm>
          <a:prstGeom prst="roundRect">
            <a:avLst>
              <a:gd name="adj" fmla="val 8000"/>
            </a:avLst>
          </a:prstGeom>
          <a:solidFill>
            <a:schemeClr val="tx2"/>
          </a:solidFill>
          <a:ln w="12700">
            <a:solidFill>
              <a:schemeClr val="accent2"/>
            </a:solidFill>
            <a:prstDash val="solid"/>
          </a:ln>
        </p:spPr>
      </p:sp>
      <p:sp>
        <p:nvSpPr>
          <p:cNvPr id="10" name="text-119"/>
          <p:cNvSpPr txBox="1"/>
          <p:nvPr/>
        </p:nvSpPr>
        <p:spPr>
          <a:xfrm>
            <a:off x="6446520" y="1435608"/>
            <a:ext cx="1463040" cy="365760"/>
          </a:xfrm>
          <a:prstGeom prst="rect">
            <a:avLst/>
          </a:prstGeom>
          <a:noFill/>
          <a:ln/>
        </p:spPr>
        <p:txBody>
          <a:bodyPr wrap="square" lIns="0" tIns="0" rIns="0" bIns="0" rtlCol="0" anchor="t"/>
          <a:lstStyle/>
          <a:p>
            <a:pPr algn="ctr" indent="0" marL="0">
              <a:buNone/>
            </a:pPr>
            <a:r>
              <a:rPr lang="en-US" sz="1600" b="1" dirty="0">
                <a:solidFill>
                  <a:schemeClr val="bg1"/>
                </a:solidFill>
              </a:rPr>
              <a:t>Gemini</a:t>
            </a:r>
            <a:endParaRPr lang="en-US" sz="1600" dirty="0"/>
          </a:p>
        </p:txBody>
      </p:sp>
      <p:sp>
        <p:nvSpPr>
          <p:cNvPr id="11" name="text-120"/>
          <p:cNvSpPr txBox="1"/>
          <p:nvPr/>
        </p:nvSpPr>
        <p:spPr>
          <a:xfrm>
            <a:off x="6446520" y="1801368"/>
            <a:ext cx="1463040" cy="822960"/>
          </a:xfrm>
          <a:prstGeom prst="rect">
            <a:avLst/>
          </a:prstGeom>
          <a:noFill/>
          <a:ln/>
        </p:spPr>
        <p:txBody>
          <a:bodyPr wrap="square" lIns="0" tIns="0" rIns="0" bIns="0" rtlCol="0" anchor="t"/>
          <a:lstStyle/>
          <a:p>
            <a:pPr algn="ctr" indent="0" marL="0">
              <a:buNone/>
            </a:pPr>
            <a:r>
              <a:rPr lang="en-US" sz="1250" dirty="0">
                <a:solidFill>
                  <a:schemeClr val="bg2"/>
                </a:solidFill>
              </a:rPr>
              <a:t>Understands and words; never decides</a:t>
            </a:r>
            <a:endParaRPr lang="en-US" sz="1250" dirty="0"/>
          </a:p>
        </p:txBody>
      </p:sp>
      <p:sp>
        <p:nvSpPr>
          <p:cNvPr id="12" name="card-121"/>
          <p:cNvSpPr/>
          <p:nvPr/>
        </p:nvSpPr>
        <p:spPr>
          <a:xfrm>
            <a:off x="3291840" y="3337560"/>
            <a:ext cx="4754880" cy="1371600"/>
          </a:xfrm>
          <a:prstGeom prst="roundRect">
            <a:avLst>
              <a:gd name="adj" fmla="val 8000"/>
            </a:avLst>
          </a:prstGeom>
          <a:solidFill>
            <a:schemeClr val="tx2"/>
          </a:solidFill>
          <a:ln w="12700">
            <a:solidFill>
              <a:schemeClr val="accent1"/>
            </a:solidFill>
            <a:prstDash val="solid"/>
          </a:ln>
        </p:spPr>
      </p:sp>
      <p:sp>
        <p:nvSpPr>
          <p:cNvPr id="13" name="text-122"/>
          <p:cNvSpPr txBox="1"/>
          <p:nvPr/>
        </p:nvSpPr>
        <p:spPr>
          <a:xfrm>
            <a:off x="3429000" y="3447288"/>
            <a:ext cx="4480560" cy="365760"/>
          </a:xfrm>
          <a:prstGeom prst="rect">
            <a:avLst/>
          </a:prstGeom>
          <a:noFill/>
          <a:ln/>
        </p:spPr>
        <p:txBody>
          <a:bodyPr wrap="square" lIns="0" tIns="0" rIns="0" bIns="0" rtlCol="0" anchor="t"/>
          <a:lstStyle/>
          <a:p>
            <a:pPr algn="ctr" indent="0" marL="0">
              <a:buNone/>
            </a:pPr>
            <a:r>
              <a:rPr lang="en-US" sz="1600" b="1" dirty="0">
                <a:solidFill>
                  <a:schemeClr val="bg1"/>
                </a:solidFill>
              </a:rPr>
              <a:t>Database (Supabase PostgreSQL)</a:t>
            </a:r>
            <a:endParaRPr lang="en-US" sz="1600" dirty="0"/>
          </a:p>
        </p:txBody>
      </p:sp>
      <p:sp>
        <p:nvSpPr>
          <p:cNvPr id="14" name="text-123"/>
          <p:cNvSpPr txBox="1"/>
          <p:nvPr/>
        </p:nvSpPr>
        <p:spPr>
          <a:xfrm>
            <a:off x="3429000" y="3813048"/>
            <a:ext cx="4480560" cy="822960"/>
          </a:xfrm>
          <a:prstGeom prst="rect">
            <a:avLst/>
          </a:prstGeom>
          <a:noFill/>
          <a:ln/>
        </p:spPr>
        <p:txBody>
          <a:bodyPr wrap="square" lIns="0" tIns="0" rIns="0" bIns="0" rtlCol="0" anchor="t"/>
          <a:lstStyle/>
          <a:p>
            <a:pPr algn="ctr" indent="0" marL="0">
              <a:buNone/>
            </a:pPr>
            <a:r>
              <a:rPr lang="en-US" sz="1250" dirty="0">
                <a:solidFill>
                  <a:schemeClr val="bg2"/>
                </a:solidFill>
              </a:rPr>
              <a:t>Sale + stock in one transaction · prices frozen per sale · each shop sees only its own data</a:t>
            </a:r>
            <a:endParaRPr lang="en-US" sz="1250" dirty="0"/>
          </a:p>
        </p:txBody>
      </p:sp>
      <p:sp>
        <p:nvSpPr>
          <p:cNvPr id="15" name="arrow-124"/>
          <p:cNvSpPr/>
          <p:nvPr/>
        </p:nvSpPr>
        <p:spPr>
          <a:xfrm flipV="1">
            <a:off x="2651760" y="2011680"/>
            <a:ext cx="640080" cy="640080"/>
          </a:xfrm>
          <a:prstGeom prst="line">
            <a:avLst/>
          </a:prstGeom>
          <a:noFill/>
          <a:ln w="19050">
            <a:solidFill>
              <a:srgbClr val="B4BEDF"/>
            </a:solidFill>
            <a:prstDash val="solid"/>
            <a:tailEnd type="triangle"/>
          </a:ln>
        </p:spPr>
      </p:sp>
      <p:sp>
        <p:nvSpPr>
          <p:cNvPr id="16" name="arrow-125"/>
          <p:cNvSpPr/>
          <p:nvPr/>
        </p:nvSpPr>
        <p:spPr>
          <a:xfrm>
            <a:off x="5669280" y="2011680"/>
            <a:ext cx="640080" cy="0"/>
          </a:xfrm>
          <a:prstGeom prst="line">
            <a:avLst/>
          </a:prstGeom>
          <a:noFill/>
          <a:ln w="19050">
            <a:solidFill>
              <a:srgbClr val="B4BEDF"/>
            </a:solidFill>
            <a:prstDash val="solid"/>
            <a:tailEnd type="triangle"/>
          </a:ln>
        </p:spPr>
      </p:sp>
      <p:sp>
        <p:nvSpPr>
          <p:cNvPr id="17" name="arrow-126"/>
          <p:cNvSpPr/>
          <p:nvPr/>
        </p:nvSpPr>
        <p:spPr>
          <a:xfrm>
            <a:off x="2651760" y="3383280"/>
            <a:ext cx="640080" cy="640080"/>
          </a:xfrm>
          <a:prstGeom prst="line">
            <a:avLst/>
          </a:prstGeom>
          <a:noFill/>
          <a:ln w="19050">
            <a:solidFill>
              <a:srgbClr val="B4BEDF"/>
            </a:solidFill>
            <a:prstDash val="solid"/>
            <a:tailEnd type="triangle"/>
          </a:ln>
        </p:spPr>
      </p:sp>
      <p:sp>
        <p:nvSpPr>
          <p:cNvPr id="18" name="card-127"/>
          <p:cNvSpPr/>
          <p:nvPr/>
        </p:nvSpPr>
        <p:spPr>
          <a:xfrm>
            <a:off x="8503920" y="1325880"/>
            <a:ext cx="1463040" cy="1554480"/>
          </a:xfrm>
          <a:prstGeom prst="roundRect">
            <a:avLst>
              <a:gd name="adj" fmla="val 7500"/>
            </a:avLst>
          </a:prstGeom>
          <a:solidFill>
            <a:schemeClr val="tx2"/>
          </a:solidFill>
          <a:ln w="12700">
            <a:solidFill>
              <a:schemeClr val="accent6"/>
            </a:solidFill>
            <a:prstDash val="solid"/>
          </a:ln>
        </p:spPr>
      </p:sp>
      <p:sp>
        <p:nvSpPr>
          <p:cNvPr id="19" name="text-128"/>
          <p:cNvSpPr txBox="1"/>
          <p:nvPr/>
        </p:nvSpPr>
        <p:spPr>
          <a:xfrm>
            <a:off x="8595360" y="1463040"/>
            <a:ext cx="1280160" cy="640080"/>
          </a:xfrm>
          <a:prstGeom prst="rect">
            <a:avLst/>
          </a:prstGeom>
          <a:noFill/>
          <a:ln/>
        </p:spPr>
        <p:txBody>
          <a:bodyPr wrap="square" lIns="0" tIns="0" rIns="0" bIns="0" rtlCol="0" anchor="t"/>
          <a:lstStyle/>
          <a:p>
            <a:pPr algn="ctr" indent="0" marL="0">
              <a:buNone/>
            </a:pPr>
            <a:r>
              <a:rPr lang="en-US" sz="3400" b="1" dirty="0">
                <a:solidFill>
                  <a:schemeClr val="accent1"/>
                </a:solidFill>
              </a:rPr>
              <a:t>707</a:t>
            </a:r>
            <a:endParaRPr lang="en-US" sz="3400" dirty="0"/>
          </a:p>
        </p:txBody>
      </p:sp>
      <p:sp>
        <p:nvSpPr>
          <p:cNvPr id="20" name="text-129"/>
          <p:cNvSpPr txBox="1"/>
          <p:nvPr/>
        </p:nvSpPr>
        <p:spPr>
          <a:xfrm>
            <a:off x="8595360" y="2103120"/>
            <a:ext cx="1280160" cy="731520"/>
          </a:xfrm>
          <a:prstGeom prst="rect">
            <a:avLst/>
          </a:prstGeom>
          <a:noFill/>
          <a:ln/>
        </p:spPr>
        <p:txBody>
          <a:bodyPr wrap="square" lIns="0" tIns="0" rIns="0" bIns="0" rtlCol="0" anchor="t"/>
          <a:lstStyle/>
          <a:p>
            <a:pPr algn="ctr" indent="0" marL="0">
              <a:buNone/>
            </a:pPr>
            <a:r>
              <a:rPr lang="en-US" sz="1200" dirty="0">
                <a:solidFill>
                  <a:schemeClr val="bg2"/>
                </a:solidFill>
              </a:rPr>
              <a:t>automated tests passing</a:t>
            </a:r>
            <a:endParaRPr lang="en-US" sz="1200" dirty="0"/>
          </a:p>
        </p:txBody>
      </p:sp>
      <p:sp>
        <p:nvSpPr>
          <p:cNvPr id="21" name="card-130"/>
          <p:cNvSpPr/>
          <p:nvPr/>
        </p:nvSpPr>
        <p:spPr>
          <a:xfrm>
            <a:off x="10104120" y="1325880"/>
            <a:ext cx="1463040" cy="1554480"/>
          </a:xfrm>
          <a:prstGeom prst="roundRect">
            <a:avLst>
              <a:gd name="adj" fmla="val 7500"/>
            </a:avLst>
          </a:prstGeom>
          <a:solidFill>
            <a:schemeClr val="tx2"/>
          </a:solidFill>
          <a:ln w="12700">
            <a:solidFill>
              <a:schemeClr val="accent6"/>
            </a:solidFill>
            <a:prstDash val="solid"/>
          </a:ln>
        </p:spPr>
      </p:sp>
      <p:sp>
        <p:nvSpPr>
          <p:cNvPr id="22" name="text-131"/>
          <p:cNvSpPr txBox="1"/>
          <p:nvPr/>
        </p:nvSpPr>
        <p:spPr>
          <a:xfrm>
            <a:off x="10195560" y="1463040"/>
            <a:ext cx="1280160" cy="640080"/>
          </a:xfrm>
          <a:prstGeom prst="rect">
            <a:avLst/>
          </a:prstGeom>
          <a:noFill/>
          <a:ln/>
        </p:spPr>
        <p:txBody>
          <a:bodyPr wrap="square" lIns="0" tIns="0" rIns="0" bIns="0" rtlCol="0" anchor="t"/>
          <a:lstStyle/>
          <a:p>
            <a:pPr algn="ctr" indent="0" marL="0">
              <a:buNone/>
            </a:pPr>
            <a:r>
              <a:rPr lang="en-US" sz="3400" b="1" dirty="0">
                <a:solidFill>
                  <a:schemeClr val="accent1"/>
                </a:solidFill>
              </a:rPr>
              <a:t>19</a:t>
            </a:r>
            <a:endParaRPr lang="en-US" sz="3400" dirty="0"/>
          </a:p>
        </p:txBody>
      </p:sp>
      <p:sp>
        <p:nvSpPr>
          <p:cNvPr id="23" name="text-132"/>
          <p:cNvSpPr txBox="1"/>
          <p:nvPr/>
        </p:nvSpPr>
        <p:spPr>
          <a:xfrm>
            <a:off x="10195560" y="2103120"/>
            <a:ext cx="1280160" cy="731520"/>
          </a:xfrm>
          <a:prstGeom prst="rect">
            <a:avLst/>
          </a:prstGeom>
          <a:noFill/>
          <a:ln/>
        </p:spPr>
        <p:txBody>
          <a:bodyPr wrap="square" lIns="0" tIns="0" rIns="0" bIns="0" rtlCol="0" anchor="t"/>
          <a:lstStyle/>
          <a:p>
            <a:pPr algn="ctr" indent="0" marL="0">
              <a:buNone/>
            </a:pPr>
            <a:r>
              <a:rPr lang="en-US" sz="1200" dirty="0">
                <a:solidFill>
                  <a:schemeClr val="bg2"/>
                </a:solidFill>
              </a:rPr>
              <a:t>database migrations</a:t>
            </a:r>
            <a:endParaRPr lang="en-US" sz="1200" dirty="0"/>
          </a:p>
        </p:txBody>
      </p:sp>
      <p:sp>
        <p:nvSpPr>
          <p:cNvPr id="24" name="card-133"/>
          <p:cNvSpPr/>
          <p:nvPr/>
        </p:nvSpPr>
        <p:spPr>
          <a:xfrm>
            <a:off x="8503920" y="3017520"/>
            <a:ext cx="1463040" cy="1554480"/>
          </a:xfrm>
          <a:prstGeom prst="roundRect">
            <a:avLst>
              <a:gd name="adj" fmla="val 7500"/>
            </a:avLst>
          </a:prstGeom>
          <a:solidFill>
            <a:schemeClr val="tx2"/>
          </a:solidFill>
          <a:ln w="12700">
            <a:solidFill>
              <a:schemeClr val="accent6"/>
            </a:solidFill>
            <a:prstDash val="solid"/>
          </a:ln>
        </p:spPr>
      </p:sp>
      <p:sp>
        <p:nvSpPr>
          <p:cNvPr id="25" name="text-134"/>
          <p:cNvSpPr txBox="1"/>
          <p:nvPr/>
        </p:nvSpPr>
        <p:spPr>
          <a:xfrm>
            <a:off x="8595360" y="3154680"/>
            <a:ext cx="1280160" cy="640080"/>
          </a:xfrm>
          <a:prstGeom prst="rect">
            <a:avLst/>
          </a:prstGeom>
          <a:noFill/>
          <a:ln/>
        </p:spPr>
        <p:txBody>
          <a:bodyPr wrap="square" lIns="0" tIns="0" rIns="0" bIns="0" rtlCol="0" anchor="t"/>
          <a:lstStyle/>
          <a:p>
            <a:pPr algn="ctr" indent="0" marL="0">
              <a:buNone/>
            </a:pPr>
            <a:r>
              <a:rPr lang="en-US" sz="3400" b="1" dirty="0">
                <a:solidFill>
                  <a:schemeClr val="accent1"/>
                </a:solidFill>
              </a:rPr>
              <a:t>3</a:t>
            </a:r>
            <a:endParaRPr lang="en-US" sz="3400" dirty="0"/>
          </a:p>
        </p:txBody>
      </p:sp>
      <p:sp>
        <p:nvSpPr>
          <p:cNvPr id="26" name="text-135"/>
          <p:cNvSpPr txBox="1"/>
          <p:nvPr/>
        </p:nvSpPr>
        <p:spPr>
          <a:xfrm>
            <a:off x="8595360" y="3794760"/>
            <a:ext cx="1280160" cy="731520"/>
          </a:xfrm>
          <a:prstGeom prst="rect">
            <a:avLst/>
          </a:prstGeom>
          <a:noFill/>
          <a:ln/>
        </p:spPr>
        <p:txBody>
          <a:bodyPr wrap="square" lIns="0" tIns="0" rIns="0" bIns="0" rtlCol="0" anchor="t"/>
          <a:lstStyle/>
          <a:p>
            <a:pPr algn="ctr" indent="0" marL="0">
              <a:buNone/>
            </a:pPr>
            <a:r>
              <a:rPr lang="en-US" sz="1200" dirty="0">
                <a:solidFill>
                  <a:schemeClr val="bg2"/>
                </a:solidFill>
              </a:rPr>
              <a:t>AI server functions</a:t>
            </a:r>
            <a:endParaRPr lang="en-US" sz="1200" dirty="0"/>
          </a:p>
        </p:txBody>
      </p:sp>
      <p:sp>
        <p:nvSpPr>
          <p:cNvPr id="27" name="card-136"/>
          <p:cNvSpPr/>
          <p:nvPr/>
        </p:nvSpPr>
        <p:spPr>
          <a:xfrm>
            <a:off x="10104120" y="3017520"/>
            <a:ext cx="1463040" cy="1554480"/>
          </a:xfrm>
          <a:prstGeom prst="roundRect">
            <a:avLst>
              <a:gd name="adj" fmla="val 7500"/>
            </a:avLst>
          </a:prstGeom>
          <a:solidFill>
            <a:schemeClr val="tx2"/>
          </a:solidFill>
          <a:ln w="12700">
            <a:solidFill>
              <a:schemeClr val="accent6"/>
            </a:solidFill>
            <a:prstDash val="solid"/>
          </a:ln>
        </p:spPr>
      </p:sp>
      <p:sp>
        <p:nvSpPr>
          <p:cNvPr id="28" name="text-137"/>
          <p:cNvSpPr txBox="1"/>
          <p:nvPr/>
        </p:nvSpPr>
        <p:spPr>
          <a:xfrm>
            <a:off x="10195560" y="3154680"/>
            <a:ext cx="1280160" cy="640080"/>
          </a:xfrm>
          <a:prstGeom prst="rect">
            <a:avLst/>
          </a:prstGeom>
          <a:noFill/>
          <a:ln/>
        </p:spPr>
        <p:txBody>
          <a:bodyPr wrap="square" lIns="0" tIns="0" rIns="0" bIns="0" rtlCol="0" anchor="t"/>
          <a:lstStyle/>
          <a:p>
            <a:pPr algn="ctr" indent="0" marL="0">
              <a:buNone/>
            </a:pPr>
            <a:r>
              <a:rPr lang="en-US" sz="3400" b="1" dirty="0">
                <a:solidFill>
                  <a:schemeClr val="accent3"/>
                </a:solidFill>
              </a:rPr>
              <a:t>0</a:t>
            </a:r>
            <a:endParaRPr lang="en-US" sz="3400" dirty="0"/>
          </a:p>
        </p:txBody>
      </p:sp>
      <p:sp>
        <p:nvSpPr>
          <p:cNvPr id="29" name="text-138"/>
          <p:cNvSpPr txBox="1"/>
          <p:nvPr/>
        </p:nvSpPr>
        <p:spPr>
          <a:xfrm>
            <a:off x="10195560" y="3794760"/>
            <a:ext cx="1280160" cy="731520"/>
          </a:xfrm>
          <a:prstGeom prst="rect">
            <a:avLst/>
          </a:prstGeom>
          <a:noFill/>
          <a:ln/>
        </p:spPr>
        <p:txBody>
          <a:bodyPr wrap="square" lIns="0" tIns="0" rIns="0" bIns="0" rtlCol="0" anchor="t"/>
          <a:lstStyle/>
          <a:p>
            <a:pPr algn="ctr" indent="0" marL="0">
              <a:buNone/>
            </a:pPr>
            <a:r>
              <a:rPr lang="en-US" sz="1200" dirty="0">
                <a:solidFill>
                  <a:schemeClr val="bg2"/>
                </a:solidFill>
              </a:rPr>
              <a:t>exploitable issues in our security review</a:t>
            </a:r>
            <a:endParaRPr lang="en-US" sz="1200" dirty="0"/>
          </a:p>
        </p:txBody>
      </p:sp>
      <p:pic>
        <p:nvPicPr>
          <p:cNvPr id="30" name="shield-139" descr="preencoded.png">    </p:cNvPr>
          <p:cNvPicPr>
            <a:picLocks noChangeAspect="1"/>
          </p:cNvPicPr>
          <p:nvPr/>
        </p:nvPicPr>
        <p:blipFill>
          <a:blip r:embed="rId1"/>
          <a:stretch>
            <a:fillRect/>
          </a:stretch>
        </p:blipFill>
        <p:spPr>
          <a:xfrm>
            <a:off x="548640" y="5102352"/>
            <a:ext cx="292608" cy="292608"/>
          </a:xfrm>
          <a:prstGeom prst="rect">
            <a:avLst/>
          </a:prstGeom>
        </p:spPr>
      </p:pic>
      <p:sp>
        <p:nvSpPr>
          <p:cNvPr id="31" name="text-140"/>
          <p:cNvSpPr txBox="1"/>
          <p:nvPr/>
        </p:nvSpPr>
        <p:spPr>
          <a:xfrm>
            <a:off x="960120" y="5074920"/>
            <a:ext cx="5029200" cy="365760"/>
          </a:xfrm>
          <a:prstGeom prst="rect">
            <a:avLst/>
          </a:prstGeom>
          <a:noFill/>
          <a:ln/>
        </p:spPr>
        <p:txBody>
          <a:bodyPr wrap="square" lIns="0" tIns="0" rIns="0" bIns="0" rtlCol="0" anchor="t"/>
          <a:lstStyle/>
          <a:p>
            <a:pPr indent="0" marL="0">
              <a:buNone/>
            </a:pPr>
            <a:r>
              <a:rPr lang="en-US" sz="1400" dirty="0">
                <a:solidFill>
                  <a:schemeClr val="bg1"/>
                </a:solidFill>
              </a:rPr>
              <a:t>Owner confirms every AI result before it's saved</a:t>
            </a:r>
            <a:endParaRPr lang="en-US" sz="1400" dirty="0"/>
          </a:p>
        </p:txBody>
      </p:sp>
      <p:pic>
        <p:nvPicPr>
          <p:cNvPr id="32" name="shield-141" descr="preencoded.png">    </p:cNvPr>
          <p:cNvPicPr>
            <a:picLocks noChangeAspect="1"/>
          </p:cNvPicPr>
          <p:nvPr/>
        </p:nvPicPr>
        <p:blipFill>
          <a:blip r:embed="rId2"/>
          <a:stretch>
            <a:fillRect/>
          </a:stretch>
        </p:blipFill>
        <p:spPr>
          <a:xfrm>
            <a:off x="6126480" y="5102352"/>
            <a:ext cx="292608" cy="292608"/>
          </a:xfrm>
          <a:prstGeom prst="rect">
            <a:avLst/>
          </a:prstGeom>
        </p:spPr>
      </p:pic>
      <p:sp>
        <p:nvSpPr>
          <p:cNvPr id="33" name="text-142"/>
          <p:cNvSpPr txBox="1"/>
          <p:nvPr/>
        </p:nvSpPr>
        <p:spPr>
          <a:xfrm>
            <a:off x="6537960" y="5074920"/>
            <a:ext cx="5029200" cy="365760"/>
          </a:xfrm>
          <a:prstGeom prst="rect">
            <a:avLst/>
          </a:prstGeom>
          <a:noFill/>
          <a:ln/>
        </p:spPr>
        <p:txBody>
          <a:bodyPr wrap="square" lIns="0" tIns="0" rIns="0" bIns="0" rtlCol="0" anchor="t"/>
          <a:lstStyle/>
          <a:p>
            <a:pPr indent="0" marL="0">
              <a:buNone/>
            </a:pPr>
            <a:r>
              <a:rPr lang="en-US" sz="1400" dirty="0">
                <a:solidFill>
                  <a:schemeClr val="bg1"/>
                </a:solidFill>
              </a:rPr>
              <a:t>No secret keys in the app; AI keys only on the server</a:t>
            </a:r>
            <a:endParaRPr lang="en-US" sz="1400" dirty="0"/>
          </a:p>
        </p:txBody>
      </p:sp>
      <p:pic>
        <p:nvPicPr>
          <p:cNvPr id="34" name="shield-143" descr="preencoded.png">    </p:cNvPr>
          <p:cNvPicPr>
            <a:picLocks noChangeAspect="1"/>
          </p:cNvPicPr>
          <p:nvPr/>
        </p:nvPicPr>
        <p:blipFill>
          <a:blip r:embed="rId3"/>
          <a:stretch>
            <a:fillRect/>
          </a:stretch>
        </p:blipFill>
        <p:spPr>
          <a:xfrm>
            <a:off x="548640" y="5605272"/>
            <a:ext cx="292608" cy="292608"/>
          </a:xfrm>
          <a:prstGeom prst="rect">
            <a:avLst/>
          </a:prstGeom>
        </p:spPr>
      </p:pic>
      <p:sp>
        <p:nvSpPr>
          <p:cNvPr id="35" name="text-144"/>
          <p:cNvSpPr txBox="1"/>
          <p:nvPr/>
        </p:nvSpPr>
        <p:spPr>
          <a:xfrm>
            <a:off x="960120" y="5577840"/>
            <a:ext cx="5029200" cy="365760"/>
          </a:xfrm>
          <a:prstGeom prst="rect">
            <a:avLst/>
          </a:prstGeom>
          <a:noFill/>
          <a:ln/>
        </p:spPr>
        <p:txBody>
          <a:bodyPr wrap="square" lIns="0" tIns="0" rIns="0" bIns="0" rtlCol="0" anchor="t"/>
          <a:lstStyle/>
          <a:p>
            <a:pPr indent="0" marL="0">
              <a:buNone/>
            </a:pPr>
            <a:r>
              <a:rPr lang="en-US" sz="1400" dirty="0">
                <a:solidFill>
                  <a:schemeClr val="bg1"/>
                </a:solidFill>
              </a:rPr>
              <a:t>Row Level Security on every table</a:t>
            </a:r>
            <a:endParaRPr lang="en-US" sz="1400" dirty="0"/>
          </a:p>
        </p:txBody>
      </p:sp>
      <p:pic>
        <p:nvPicPr>
          <p:cNvPr id="36" name="shield-145" descr="preencoded.png">    </p:cNvPr>
          <p:cNvPicPr>
            <a:picLocks noChangeAspect="1"/>
          </p:cNvPicPr>
          <p:nvPr/>
        </p:nvPicPr>
        <p:blipFill>
          <a:blip r:embed="rId4"/>
          <a:stretch>
            <a:fillRect/>
          </a:stretch>
        </p:blipFill>
        <p:spPr>
          <a:xfrm>
            <a:off x="6126480" y="5605272"/>
            <a:ext cx="292608" cy="292608"/>
          </a:xfrm>
          <a:prstGeom prst="rect">
            <a:avLst/>
          </a:prstGeom>
        </p:spPr>
      </p:pic>
      <p:sp>
        <p:nvSpPr>
          <p:cNvPr id="37" name="text-146"/>
          <p:cNvSpPr txBox="1"/>
          <p:nvPr/>
        </p:nvSpPr>
        <p:spPr>
          <a:xfrm>
            <a:off x="6537960" y="5577840"/>
            <a:ext cx="5029200" cy="365760"/>
          </a:xfrm>
          <a:prstGeom prst="rect">
            <a:avLst/>
          </a:prstGeom>
          <a:noFill/>
          <a:ln/>
        </p:spPr>
        <p:txBody>
          <a:bodyPr wrap="square" lIns="0" tIns="0" rIns="0" bIns="0" rtlCol="0" anchor="t"/>
          <a:lstStyle/>
          <a:p>
            <a:pPr indent="0" marL="0">
              <a:buNone/>
            </a:pPr>
            <a:r>
              <a:rPr lang="en-US" sz="1400" dirty="0">
                <a:solidFill>
                  <a:schemeClr val="bg1"/>
                </a:solidFill>
              </a:rPr>
              <a:t>A lost network reply never records a sale twice</a:t>
            </a:r>
            <a:endParaRPr lang="en-US" sz="14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Bangladesh first, then the world's corner shops</a:t>
            </a:r>
            <a:endParaRPr lang="en-US" sz="3200" dirty="0"/>
          </a:p>
        </p:txBody>
      </p:sp>
      <p:sp>
        <p:nvSpPr>
          <p:cNvPr id="3" name="text-147"/>
          <p:cNvSpPr txBox="1"/>
          <p:nvPr/>
        </p:nvSpPr>
        <p:spPr>
          <a:xfrm>
            <a:off x="548640" y="1280160"/>
            <a:ext cx="5303520" cy="365760"/>
          </a:xfrm>
          <a:prstGeom prst="rect">
            <a:avLst/>
          </a:prstGeom>
          <a:noFill/>
          <a:ln/>
        </p:spPr>
        <p:txBody>
          <a:bodyPr wrap="square" lIns="0" tIns="0" rIns="0" bIns="0" rtlCol="0" anchor="t"/>
          <a:lstStyle/>
          <a:p>
            <a:pPr indent="0" marL="0">
              <a:buNone/>
            </a:pPr>
            <a:r>
              <a:rPr lang="en-US" sz="1800" b="1" dirty="0">
                <a:solidFill>
                  <a:schemeClr val="bg1"/>
                </a:solidFill>
              </a:rPr>
              <a:t>Market size</a:t>
            </a:r>
            <a:endParaRPr lang="en-US" sz="1800" dirty="0"/>
          </a:p>
        </p:txBody>
      </p:sp>
      <p:sp>
        <p:nvSpPr>
          <p:cNvPr id="4" name="market-bar-148"/>
          <p:cNvSpPr/>
          <p:nvPr/>
        </p:nvSpPr>
        <p:spPr>
          <a:xfrm>
            <a:off x="548640" y="1783080"/>
            <a:ext cx="5303520" cy="1005840"/>
          </a:xfrm>
          <a:prstGeom prst="roundRect">
            <a:avLst>
              <a:gd name="adj" fmla="val 10909"/>
            </a:avLst>
          </a:prstGeom>
          <a:solidFill>
            <a:schemeClr val="accent1">
              <a:alpha val="22000"/>
            </a:schemeClr>
          </a:solidFill>
          <a:ln w="15875">
            <a:solidFill>
              <a:schemeClr val="accent1"/>
            </a:solidFill>
            <a:prstDash val="solid"/>
          </a:ln>
        </p:spPr>
      </p:sp>
      <p:sp>
        <p:nvSpPr>
          <p:cNvPr id="5" name="text-149"/>
          <p:cNvSpPr txBox="1"/>
          <p:nvPr/>
        </p:nvSpPr>
        <p:spPr>
          <a:xfrm>
            <a:off x="731520" y="1874520"/>
            <a:ext cx="5029200" cy="457200"/>
          </a:xfrm>
          <a:prstGeom prst="rect">
            <a:avLst/>
          </a:prstGeom>
          <a:noFill/>
          <a:ln/>
        </p:spPr>
        <p:txBody>
          <a:bodyPr wrap="square" lIns="0" tIns="0" rIns="0" bIns="0" rtlCol="0" anchor="t"/>
          <a:lstStyle/>
          <a:p>
            <a:pPr indent="0" marL="0">
              <a:buNone/>
            </a:pPr>
            <a:r>
              <a:rPr lang="en-US" sz="2100" b="1" dirty="0">
                <a:solidFill>
                  <a:schemeClr val="bg1"/>
                </a:solidFill>
              </a:rPr>
              <a:t>US$630M a year</a:t>
            </a:r>
            <a:endParaRPr lang="en-US" sz="2100" dirty="0"/>
          </a:p>
        </p:txBody>
      </p:sp>
      <p:sp>
        <p:nvSpPr>
          <p:cNvPr id="6" name="text-150"/>
          <p:cNvSpPr txBox="1"/>
          <p:nvPr/>
        </p:nvSpPr>
        <p:spPr>
          <a:xfrm>
            <a:off x="731520" y="2331720"/>
            <a:ext cx="5029200" cy="365760"/>
          </a:xfrm>
          <a:prstGeom prst="rect">
            <a:avLst/>
          </a:prstGeom>
          <a:noFill/>
          <a:ln/>
        </p:spPr>
        <p:txBody>
          <a:bodyPr wrap="square" lIns="0" tIns="0" rIns="0" bIns="0" rtlCol="0" anchor="t"/>
          <a:lstStyle/>
          <a:p>
            <a:pPr indent="0" marL="0">
              <a:buNone/>
            </a:pPr>
            <a:r>
              <a:rPr lang="en-US" sz="1300" dirty="0">
                <a:solidFill>
                  <a:schemeClr val="bg2"/>
                </a:solidFill>
              </a:rPr>
              <a:t>21M+ shops × US$30 a year</a:t>
            </a:r>
            <a:endParaRPr lang="en-US" sz="1300" dirty="0"/>
          </a:p>
        </p:txBody>
      </p:sp>
      <p:sp>
        <p:nvSpPr>
          <p:cNvPr id="7" name="market-bar-151"/>
          <p:cNvSpPr/>
          <p:nvPr/>
        </p:nvSpPr>
        <p:spPr>
          <a:xfrm>
            <a:off x="548640" y="2971800"/>
            <a:ext cx="4206240" cy="1005840"/>
          </a:xfrm>
          <a:prstGeom prst="roundRect">
            <a:avLst>
              <a:gd name="adj" fmla="val 10909"/>
            </a:avLst>
          </a:prstGeom>
          <a:solidFill>
            <a:schemeClr val="accent2">
              <a:alpha val="22000"/>
            </a:schemeClr>
          </a:solidFill>
          <a:ln w="15875">
            <a:solidFill>
              <a:schemeClr val="accent2"/>
            </a:solidFill>
            <a:prstDash val="solid"/>
          </a:ln>
        </p:spPr>
      </p:sp>
      <p:sp>
        <p:nvSpPr>
          <p:cNvPr id="8" name="text-152"/>
          <p:cNvSpPr txBox="1"/>
          <p:nvPr/>
        </p:nvSpPr>
        <p:spPr>
          <a:xfrm>
            <a:off x="731520" y="3063240"/>
            <a:ext cx="3931920" cy="457200"/>
          </a:xfrm>
          <a:prstGeom prst="rect">
            <a:avLst/>
          </a:prstGeom>
          <a:noFill/>
          <a:ln/>
        </p:spPr>
        <p:txBody>
          <a:bodyPr wrap="square" lIns="0" tIns="0" rIns="0" bIns="0" rtlCol="0" anchor="t"/>
          <a:lstStyle/>
          <a:p>
            <a:pPr indent="0" marL="0">
              <a:buNone/>
            </a:pPr>
            <a:r>
              <a:rPr lang="en-US" sz="2100" b="1" dirty="0">
                <a:solidFill>
                  <a:schemeClr val="bg1"/>
                </a:solidFill>
              </a:rPr>
              <a:t>US$170–250M a year</a:t>
            </a:r>
            <a:endParaRPr lang="en-US" sz="2100" dirty="0"/>
          </a:p>
        </p:txBody>
      </p:sp>
      <p:sp>
        <p:nvSpPr>
          <p:cNvPr id="9" name="text-153"/>
          <p:cNvSpPr txBox="1"/>
          <p:nvPr/>
        </p:nvSpPr>
        <p:spPr>
          <a:xfrm>
            <a:off x="731520" y="3520440"/>
            <a:ext cx="3931920" cy="365760"/>
          </a:xfrm>
          <a:prstGeom prst="rect">
            <a:avLst/>
          </a:prstGeom>
          <a:noFill/>
          <a:ln/>
        </p:spPr>
        <p:txBody>
          <a:bodyPr wrap="square" lIns="0" tIns="0" rIns="0" bIns="0" rtlCol="0" anchor="t"/>
          <a:lstStyle/>
          <a:p>
            <a:pPr indent="0" marL="0">
              <a:buNone/>
            </a:pPr>
            <a:r>
              <a:rPr lang="en-US" sz="1300" dirty="0">
                <a:solidFill>
                  <a:schemeClr val="bg2"/>
                </a:solidFill>
              </a:rPr>
              <a:t>Our 6 target markets, smartphone-using shops</a:t>
            </a:r>
            <a:endParaRPr lang="en-US" sz="1300" dirty="0"/>
          </a:p>
        </p:txBody>
      </p:sp>
      <p:sp>
        <p:nvSpPr>
          <p:cNvPr id="10" name="market-bar-154"/>
          <p:cNvSpPr/>
          <p:nvPr/>
        </p:nvSpPr>
        <p:spPr>
          <a:xfrm>
            <a:off x="548640" y="4160520"/>
            <a:ext cx="3108960" cy="1005840"/>
          </a:xfrm>
          <a:prstGeom prst="roundRect">
            <a:avLst>
              <a:gd name="adj" fmla="val 10909"/>
            </a:avLst>
          </a:prstGeom>
          <a:solidFill>
            <a:schemeClr val="accent3">
              <a:alpha val="22000"/>
            </a:schemeClr>
          </a:solidFill>
          <a:ln w="15875">
            <a:solidFill>
              <a:schemeClr val="accent3"/>
            </a:solidFill>
            <a:prstDash val="solid"/>
          </a:ln>
        </p:spPr>
      </p:sp>
      <p:sp>
        <p:nvSpPr>
          <p:cNvPr id="11" name="text-155"/>
          <p:cNvSpPr txBox="1"/>
          <p:nvPr/>
        </p:nvSpPr>
        <p:spPr>
          <a:xfrm>
            <a:off x="731520" y="4251960"/>
            <a:ext cx="2834640" cy="457200"/>
          </a:xfrm>
          <a:prstGeom prst="rect">
            <a:avLst/>
          </a:prstGeom>
          <a:noFill/>
          <a:ln/>
        </p:spPr>
        <p:txBody>
          <a:bodyPr wrap="square" lIns="0" tIns="0" rIns="0" bIns="0" rtlCol="0" anchor="t"/>
          <a:lstStyle/>
          <a:p>
            <a:pPr indent="0" marL="0">
              <a:buNone/>
            </a:pPr>
            <a:r>
              <a:rPr lang="en-US" sz="2100" b="1" dirty="0">
                <a:solidFill>
                  <a:schemeClr val="bg1"/>
                </a:solidFill>
              </a:rPr>
              <a:t>25,000 paying shops</a:t>
            </a:r>
            <a:endParaRPr lang="en-US" sz="2100" dirty="0"/>
          </a:p>
        </p:txBody>
      </p:sp>
      <p:sp>
        <p:nvSpPr>
          <p:cNvPr id="12" name="text-156"/>
          <p:cNvSpPr txBox="1"/>
          <p:nvPr/>
        </p:nvSpPr>
        <p:spPr>
          <a:xfrm>
            <a:off x="731520" y="4709160"/>
            <a:ext cx="2834640" cy="365760"/>
          </a:xfrm>
          <a:prstGeom prst="rect">
            <a:avLst/>
          </a:prstGeom>
          <a:noFill/>
          <a:ln/>
        </p:spPr>
        <p:txBody>
          <a:bodyPr wrap="square" lIns="0" tIns="0" rIns="0" bIns="0" rtlCol="0" anchor="t"/>
          <a:lstStyle/>
          <a:p>
            <a:pPr indent="0" marL="0">
              <a:buNone/>
            </a:pPr>
            <a:r>
              <a:rPr lang="en-US" sz="1300" dirty="0">
                <a:solidFill>
                  <a:schemeClr val="bg2"/>
                </a:solidFill>
              </a:rPr>
              <a:t>Year-3 goal: under 0.5% of target markets</a:t>
            </a:r>
            <a:endParaRPr lang="en-US" sz="1300" dirty="0"/>
          </a:p>
        </p:txBody>
      </p:sp>
      <p:sp>
        <p:nvSpPr>
          <p:cNvPr id="13" name="text-157"/>
          <p:cNvSpPr txBox="1"/>
          <p:nvPr/>
        </p:nvSpPr>
        <p:spPr>
          <a:xfrm>
            <a:off x="6309360" y="1280160"/>
            <a:ext cx="5303520" cy="365760"/>
          </a:xfrm>
          <a:prstGeom prst="rect">
            <a:avLst/>
          </a:prstGeom>
          <a:noFill/>
          <a:ln/>
        </p:spPr>
        <p:txBody>
          <a:bodyPr wrap="square" lIns="0" tIns="0" rIns="0" bIns="0" rtlCol="0" anchor="t"/>
          <a:lstStyle/>
          <a:p>
            <a:pPr indent="0" marL="0">
              <a:buNone/>
            </a:pPr>
            <a:r>
              <a:rPr lang="en-US" sz="1800" b="1" dirty="0">
                <a:solidFill>
                  <a:schemeClr val="bg1"/>
                </a:solidFill>
              </a:rPr>
              <a:t>Market entry</a:t>
            </a:r>
            <a:endParaRPr lang="en-US" sz="1800" dirty="0"/>
          </a:p>
        </p:txBody>
      </p:sp>
      <p:sp>
        <p:nvSpPr>
          <p:cNvPr id="14" name="entry-timeline"/>
          <p:cNvSpPr/>
          <p:nvPr/>
        </p:nvSpPr>
        <p:spPr>
          <a:xfrm>
            <a:off x="6510528" y="1965960"/>
            <a:ext cx="0" cy="3063240"/>
          </a:xfrm>
          <a:prstGeom prst="line">
            <a:avLst/>
          </a:prstGeom>
          <a:noFill/>
          <a:ln w="25400">
            <a:solidFill>
              <a:srgbClr val="2A3570"/>
            </a:solidFill>
            <a:prstDash val="solid"/>
          </a:ln>
        </p:spPr>
      </p:sp>
      <p:sp>
        <p:nvSpPr>
          <p:cNvPr id="15" name="dot-158"/>
          <p:cNvSpPr/>
          <p:nvPr/>
        </p:nvSpPr>
        <p:spPr>
          <a:xfrm>
            <a:off x="6373368" y="1892808"/>
            <a:ext cx="274320" cy="274320"/>
          </a:xfrm>
          <a:prstGeom prst="ellipse">
            <a:avLst/>
          </a:prstGeom>
          <a:solidFill>
            <a:schemeClr val="accent3"/>
          </a:solidFill>
          <a:ln w="25400">
            <a:solidFill>
              <a:srgbClr val="0B1230"/>
            </a:solidFill>
            <a:prstDash val="solid"/>
          </a:ln>
        </p:spPr>
      </p:sp>
      <p:sp>
        <p:nvSpPr>
          <p:cNvPr id="16" name="text-159"/>
          <p:cNvSpPr txBox="1"/>
          <p:nvPr/>
        </p:nvSpPr>
        <p:spPr>
          <a:xfrm>
            <a:off x="6812280" y="1828800"/>
            <a:ext cx="914400" cy="365760"/>
          </a:xfrm>
          <a:prstGeom prst="rect">
            <a:avLst/>
          </a:prstGeom>
          <a:noFill/>
          <a:ln/>
        </p:spPr>
        <p:txBody>
          <a:bodyPr wrap="square" lIns="0" tIns="0" rIns="0" bIns="0" rtlCol="0" anchor="t"/>
          <a:lstStyle/>
          <a:p>
            <a:pPr indent="0" marL="0">
              <a:buNone/>
            </a:pPr>
            <a:r>
              <a:rPr lang="en-US" sz="1400" b="1" dirty="0">
                <a:solidFill>
                  <a:schemeClr val="accent1"/>
                </a:solidFill>
              </a:rPr>
              <a:t>Year 1</a:t>
            </a:r>
            <a:endParaRPr lang="en-US" sz="1400" dirty="0"/>
          </a:p>
        </p:txBody>
      </p:sp>
      <p:sp>
        <p:nvSpPr>
          <p:cNvPr id="17" name="text-160"/>
          <p:cNvSpPr txBox="1"/>
          <p:nvPr/>
        </p:nvSpPr>
        <p:spPr>
          <a:xfrm>
            <a:off x="7726680" y="1828800"/>
            <a:ext cx="3886200" cy="365760"/>
          </a:xfrm>
          <a:prstGeom prst="rect">
            <a:avLst/>
          </a:prstGeom>
          <a:noFill/>
          <a:ln/>
        </p:spPr>
        <p:txBody>
          <a:bodyPr wrap="square" lIns="0" tIns="0" rIns="0" bIns="0" rtlCol="0" anchor="t"/>
          <a:lstStyle/>
          <a:p>
            <a:pPr indent="0" marL="0">
              <a:buNone/>
            </a:pPr>
            <a:r>
              <a:rPr lang="en-US" sz="1600" b="1" dirty="0">
                <a:solidFill>
                  <a:schemeClr val="bg1"/>
                </a:solidFill>
              </a:rPr>
              <a:t>Bangladesh</a:t>
            </a:r>
            <a:endParaRPr lang="en-US" sz="1600" dirty="0"/>
          </a:p>
        </p:txBody>
      </p:sp>
      <p:sp>
        <p:nvSpPr>
          <p:cNvPr id="18" name="text-161"/>
          <p:cNvSpPr txBox="1"/>
          <p:nvPr/>
        </p:nvSpPr>
        <p:spPr>
          <a:xfrm>
            <a:off x="7726680" y="2194560"/>
            <a:ext cx="3886200" cy="365760"/>
          </a:xfrm>
          <a:prstGeom prst="rect">
            <a:avLst/>
          </a:prstGeom>
          <a:noFill/>
          <a:ln/>
        </p:spPr>
        <p:txBody>
          <a:bodyPr wrap="square" lIns="0" tIns="0" rIns="0" bIns="0" rtlCol="0" anchor="t"/>
          <a:lstStyle/>
          <a:p>
            <a:pPr indent="0" marL="0">
              <a:buNone/>
            </a:pPr>
            <a:r>
              <a:rPr lang="en-US" sz="1300" dirty="0">
                <a:solidFill>
                  <a:schemeClr val="bg2"/>
                </a:solidFill>
              </a:rPr>
              <a:t>Home market; national QR-payment push</a:t>
            </a:r>
            <a:endParaRPr lang="en-US" sz="1300" dirty="0"/>
          </a:p>
        </p:txBody>
      </p:sp>
      <p:sp>
        <p:nvSpPr>
          <p:cNvPr id="19" name="dot-162"/>
          <p:cNvSpPr/>
          <p:nvPr/>
        </p:nvSpPr>
        <p:spPr>
          <a:xfrm>
            <a:off x="6373368" y="2761488"/>
            <a:ext cx="274320" cy="274320"/>
          </a:xfrm>
          <a:prstGeom prst="ellipse">
            <a:avLst/>
          </a:prstGeom>
          <a:solidFill>
            <a:schemeClr val="accent1"/>
          </a:solidFill>
          <a:ln w="25400">
            <a:solidFill>
              <a:srgbClr val="0B1230"/>
            </a:solidFill>
            <a:prstDash val="solid"/>
          </a:ln>
        </p:spPr>
      </p:sp>
      <p:sp>
        <p:nvSpPr>
          <p:cNvPr id="20" name="text-163"/>
          <p:cNvSpPr txBox="1"/>
          <p:nvPr/>
        </p:nvSpPr>
        <p:spPr>
          <a:xfrm>
            <a:off x="6812280" y="2697480"/>
            <a:ext cx="914400" cy="365760"/>
          </a:xfrm>
          <a:prstGeom prst="rect">
            <a:avLst/>
          </a:prstGeom>
          <a:noFill/>
          <a:ln/>
        </p:spPr>
        <p:txBody>
          <a:bodyPr wrap="square" lIns="0" tIns="0" rIns="0" bIns="0" rtlCol="0" anchor="t"/>
          <a:lstStyle/>
          <a:p>
            <a:pPr indent="0" marL="0">
              <a:buNone/>
            </a:pPr>
            <a:r>
              <a:rPr lang="en-US" sz="1400" b="1" dirty="0">
                <a:solidFill>
                  <a:schemeClr val="accent1"/>
                </a:solidFill>
              </a:rPr>
              <a:t>Year 2</a:t>
            </a:r>
            <a:endParaRPr lang="en-US" sz="1400" dirty="0"/>
          </a:p>
        </p:txBody>
      </p:sp>
      <p:sp>
        <p:nvSpPr>
          <p:cNvPr id="21" name="text-164"/>
          <p:cNvSpPr txBox="1"/>
          <p:nvPr/>
        </p:nvSpPr>
        <p:spPr>
          <a:xfrm>
            <a:off x="7726680" y="2697480"/>
            <a:ext cx="3886200" cy="365760"/>
          </a:xfrm>
          <a:prstGeom prst="rect">
            <a:avLst/>
          </a:prstGeom>
          <a:noFill/>
          <a:ln/>
        </p:spPr>
        <p:txBody>
          <a:bodyPr wrap="square" lIns="0" tIns="0" rIns="0" bIns="0" rtlCol="0" anchor="t"/>
          <a:lstStyle/>
          <a:p>
            <a:pPr indent="0" marL="0">
              <a:buNone/>
            </a:pPr>
            <a:r>
              <a:rPr lang="en-US" sz="1600" b="1" dirty="0">
                <a:solidFill>
                  <a:schemeClr val="bg1"/>
                </a:solidFill>
              </a:rPr>
              <a:t>Philippines · Kenya</a:t>
            </a:r>
            <a:endParaRPr lang="en-US" sz="1600" dirty="0"/>
          </a:p>
        </p:txBody>
      </p:sp>
      <p:sp>
        <p:nvSpPr>
          <p:cNvPr id="22" name="text-165"/>
          <p:cNvSpPr txBox="1"/>
          <p:nvPr/>
        </p:nvSpPr>
        <p:spPr>
          <a:xfrm>
            <a:off x="7726680" y="3063240"/>
            <a:ext cx="3886200" cy="365760"/>
          </a:xfrm>
          <a:prstGeom prst="rect">
            <a:avLst/>
          </a:prstGeom>
          <a:noFill/>
          <a:ln/>
        </p:spPr>
        <p:txBody>
          <a:bodyPr wrap="square" lIns="0" tIns="0" rIns="0" bIns="0" rtlCol="0" anchor="t"/>
          <a:lstStyle/>
          <a:p>
            <a:pPr indent="0" marL="0">
              <a:buNone/>
            </a:pPr>
            <a:r>
              <a:rPr lang="en-US" sz="1300" dirty="0">
                <a:solidFill>
                  <a:schemeClr val="bg2"/>
                </a:solidFill>
              </a:rPr>
              <a:t>Sari-sari e-wallet boom; M-Pesa</a:t>
            </a:r>
            <a:endParaRPr lang="en-US" sz="1300" dirty="0"/>
          </a:p>
        </p:txBody>
      </p:sp>
      <p:sp>
        <p:nvSpPr>
          <p:cNvPr id="23" name="dot-166"/>
          <p:cNvSpPr/>
          <p:nvPr/>
        </p:nvSpPr>
        <p:spPr>
          <a:xfrm>
            <a:off x="6373368" y="3630168"/>
            <a:ext cx="274320" cy="274320"/>
          </a:xfrm>
          <a:prstGeom prst="ellipse">
            <a:avLst/>
          </a:prstGeom>
          <a:solidFill>
            <a:schemeClr val="accent1"/>
          </a:solidFill>
          <a:ln w="25400">
            <a:solidFill>
              <a:srgbClr val="0B1230"/>
            </a:solidFill>
            <a:prstDash val="solid"/>
          </a:ln>
        </p:spPr>
      </p:sp>
      <p:sp>
        <p:nvSpPr>
          <p:cNvPr id="24" name="text-167"/>
          <p:cNvSpPr txBox="1"/>
          <p:nvPr/>
        </p:nvSpPr>
        <p:spPr>
          <a:xfrm>
            <a:off x="6812280" y="3566160"/>
            <a:ext cx="914400" cy="365760"/>
          </a:xfrm>
          <a:prstGeom prst="rect">
            <a:avLst/>
          </a:prstGeom>
          <a:noFill/>
          <a:ln/>
        </p:spPr>
        <p:txBody>
          <a:bodyPr wrap="square" lIns="0" tIns="0" rIns="0" bIns="0" rtlCol="0" anchor="t"/>
          <a:lstStyle/>
          <a:p>
            <a:pPr indent="0" marL="0">
              <a:buNone/>
            </a:pPr>
            <a:r>
              <a:rPr lang="en-US" sz="1400" b="1" dirty="0">
                <a:solidFill>
                  <a:schemeClr val="accent1"/>
                </a:solidFill>
              </a:rPr>
              <a:t>Year 3</a:t>
            </a:r>
            <a:endParaRPr lang="en-US" sz="1400" dirty="0"/>
          </a:p>
        </p:txBody>
      </p:sp>
      <p:sp>
        <p:nvSpPr>
          <p:cNvPr id="25" name="text-168"/>
          <p:cNvSpPr txBox="1"/>
          <p:nvPr/>
        </p:nvSpPr>
        <p:spPr>
          <a:xfrm>
            <a:off x="7726680" y="3566160"/>
            <a:ext cx="3886200" cy="365760"/>
          </a:xfrm>
          <a:prstGeom prst="rect">
            <a:avLst/>
          </a:prstGeom>
          <a:noFill/>
          <a:ln/>
        </p:spPr>
        <p:txBody>
          <a:bodyPr wrap="square" lIns="0" tIns="0" rIns="0" bIns="0" rtlCol="0" anchor="t"/>
          <a:lstStyle/>
          <a:p>
            <a:pPr indent="0" marL="0">
              <a:buNone/>
            </a:pPr>
            <a:r>
              <a:rPr lang="en-US" sz="1600" b="1" dirty="0">
                <a:solidFill>
                  <a:schemeClr val="bg1"/>
                </a:solidFill>
              </a:rPr>
              <a:t>Nigeria · Indonesia · Mexico</a:t>
            </a:r>
            <a:endParaRPr lang="en-US" sz="1600" dirty="0"/>
          </a:p>
        </p:txBody>
      </p:sp>
      <p:sp>
        <p:nvSpPr>
          <p:cNvPr id="26" name="text-169"/>
          <p:cNvSpPr txBox="1"/>
          <p:nvPr/>
        </p:nvSpPr>
        <p:spPr>
          <a:xfrm>
            <a:off x="7726680" y="3931920"/>
            <a:ext cx="3886200" cy="365760"/>
          </a:xfrm>
          <a:prstGeom prst="rect">
            <a:avLst/>
          </a:prstGeom>
          <a:noFill/>
          <a:ln/>
        </p:spPr>
        <p:txBody>
          <a:bodyPr wrap="square" lIns="0" tIns="0" rIns="0" bIns="0" rtlCol="0" anchor="t"/>
          <a:lstStyle/>
          <a:p>
            <a:pPr indent="0" marL="0">
              <a:buNone/>
            </a:pPr>
            <a:r>
              <a:rPr lang="en-US" sz="1300" dirty="0">
                <a:solidFill>
                  <a:schemeClr val="bg2"/>
                </a:solidFill>
              </a:rPr>
              <a:t>Gaps left by failed bookkeeping apps</a:t>
            </a:r>
            <a:endParaRPr lang="en-US" sz="1300" dirty="0"/>
          </a:p>
        </p:txBody>
      </p:sp>
      <p:sp>
        <p:nvSpPr>
          <p:cNvPr id="27" name="dot-170"/>
          <p:cNvSpPr/>
          <p:nvPr/>
        </p:nvSpPr>
        <p:spPr>
          <a:xfrm>
            <a:off x="6373368" y="4498848"/>
            <a:ext cx="274320" cy="274320"/>
          </a:xfrm>
          <a:prstGeom prst="ellipse">
            <a:avLst/>
          </a:prstGeom>
          <a:solidFill>
            <a:schemeClr val="accent1"/>
          </a:solidFill>
          <a:ln w="25400">
            <a:solidFill>
              <a:srgbClr val="0B1230"/>
            </a:solidFill>
            <a:prstDash val="solid"/>
          </a:ln>
        </p:spPr>
      </p:sp>
      <p:sp>
        <p:nvSpPr>
          <p:cNvPr id="28" name="text-171"/>
          <p:cNvSpPr txBox="1"/>
          <p:nvPr/>
        </p:nvSpPr>
        <p:spPr>
          <a:xfrm>
            <a:off x="6812280" y="4434840"/>
            <a:ext cx="914400" cy="365760"/>
          </a:xfrm>
          <a:prstGeom prst="rect">
            <a:avLst/>
          </a:prstGeom>
          <a:noFill/>
          <a:ln/>
        </p:spPr>
        <p:txBody>
          <a:bodyPr wrap="square" lIns="0" tIns="0" rIns="0" bIns="0" rtlCol="0" anchor="t"/>
          <a:lstStyle/>
          <a:p>
            <a:pPr indent="0" marL="0">
              <a:buNone/>
            </a:pPr>
            <a:r>
              <a:rPr lang="en-US" sz="1400" b="1" dirty="0">
                <a:solidFill>
                  <a:schemeClr val="accent1"/>
                </a:solidFill>
              </a:rPr>
              <a:t>Later</a:t>
            </a:r>
            <a:endParaRPr lang="en-US" sz="1400" dirty="0"/>
          </a:p>
        </p:txBody>
      </p:sp>
      <p:sp>
        <p:nvSpPr>
          <p:cNvPr id="29" name="text-172"/>
          <p:cNvSpPr txBox="1"/>
          <p:nvPr/>
        </p:nvSpPr>
        <p:spPr>
          <a:xfrm>
            <a:off x="7726680" y="4434840"/>
            <a:ext cx="3886200" cy="365760"/>
          </a:xfrm>
          <a:prstGeom prst="rect">
            <a:avLst/>
          </a:prstGeom>
          <a:noFill/>
          <a:ln/>
        </p:spPr>
        <p:txBody>
          <a:bodyPr wrap="square" lIns="0" tIns="0" rIns="0" bIns="0" rtlCol="0" anchor="t"/>
          <a:lstStyle/>
          <a:p>
            <a:pPr indent="0" marL="0">
              <a:buNone/>
            </a:pPr>
            <a:r>
              <a:rPr lang="en-US" sz="1600" b="1" dirty="0">
                <a:solidFill>
                  <a:schemeClr val="bg1"/>
                </a:solidFill>
              </a:rPr>
              <a:t>India (via a partner)</a:t>
            </a:r>
            <a:endParaRPr lang="en-US" sz="1600" dirty="0"/>
          </a:p>
        </p:txBody>
      </p:sp>
      <p:sp>
        <p:nvSpPr>
          <p:cNvPr id="30" name="text-173"/>
          <p:cNvSpPr txBox="1"/>
          <p:nvPr/>
        </p:nvSpPr>
        <p:spPr>
          <a:xfrm>
            <a:off x="7726680" y="4800600"/>
            <a:ext cx="3886200" cy="365760"/>
          </a:xfrm>
          <a:prstGeom prst="rect">
            <a:avLst/>
          </a:prstGeom>
          <a:noFill/>
          <a:ln/>
        </p:spPr>
        <p:txBody>
          <a:bodyPr wrap="square" lIns="0" tIns="0" rIns="0" bIns="0" rtlCol="0" anchor="t"/>
          <a:lstStyle/>
          <a:p>
            <a:pPr indent="0" marL="0">
              <a:buNone/>
            </a:pPr>
            <a:r>
              <a:rPr lang="en-US" sz="1300" dirty="0">
                <a:solidFill>
                  <a:schemeClr val="bg2"/>
                </a:solidFill>
              </a:rPr>
              <a:t>Largest, but crowded</a:t>
            </a:r>
            <a:endParaRPr lang="en-US" sz="1300" dirty="0"/>
          </a:p>
        </p:txBody>
      </p:sp>
      <p:sp>
        <p:nvSpPr>
          <p:cNvPr id="31" name="card-174"/>
          <p:cNvSpPr/>
          <p:nvPr/>
        </p:nvSpPr>
        <p:spPr>
          <a:xfrm>
            <a:off x="548640" y="5440680"/>
            <a:ext cx="11064240" cy="731520"/>
          </a:xfrm>
          <a:prstGeom prst="roundRect">
            <a:avLst>
              <a:gd name="adj" fmla="val 15000"/>
            </a:avLst>
          </a:prstGeom>
          <a:solidFill>
            <a:schemeClr val="tx2"/>
          </a:solidFill>
          <a:ln w="12700">
            <a:solidFill>
              <a:schemeClr val="accent6"/>
            </a:solidFill>
            <a:prstDash val="solid"/>
          </a:ln>
        </p:spPr>
      </p:sp>
      <p:sp>
        <p:nvSpPr>
          <p:cNvPr id="32" name="text-175"/>
          <p:cNvSpPr txBox="1"/>
          <p:nvPr/>
        </p:nvSpPr>
        <p:spPr>
          <a:xfrm>
            <a:off x="777240" y="5513832"/>
            <a:ext cx="10607040" cy="594360"/>
          </a:xfrm>
          <a:prstGeom prst="rect">
            <a:avLst/>
          </a:prstGeom>
          <a:noFill/>
          <a:ln/>
        </p:spPr>
        <p:txBody>
          <a:bodyPr wrap="square" lIns="0" tIns="0" rIns="0" bIns="0" rtlCol="0" anchor="ctr"/>
          <a:lstStyle/>
          <a:p>
            <a:pPr indent="0" marL="0">
              <a:buNone/>
            </a:pPr>
            <a:r>
              <a:rPr lang="en-US" sz="1400" b="1" dirty="0">
                <a:solidFill>
                  <a:schemeClr val="bg1"/>
                </a:solidFill>
              </a:rPr>
              <a:t>Competition: </a:t>
            </a:r>
            <a:pPr indent="0" marL="0">
              <a:buNone/>
            </a:pPr>
            <a:r>
              <a:rPr lang="en-US" sz="1400" dirty="0">
                <a:solidFill>
                  <a:schemeClr val="bg2"/>
                </a:solidFill>
              </a:rPr>
              <a:t>Khatabook, OkCredit, Vyapar, BukuWarung and TallyKhata are typing-first. Kippa and BukuKas failed on bookkeeping alone, so our revenue path is finance from day one.</a:t>
            </a:r>
            <a:endParaRPr lang="en-US" sz="14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Free records, paid AI, and fees from financing</a:t>
            </a:r>
            <a:endParaRPr lang="en-US" sz="3200" dirty="0"/>
          </a:p>
        </p:txBody>
      </p:sp>
      <p:sp>
        <p:nvSpPr>
          <p:cNvPr id="3" name="card-176"/>
          <p:cNvSpPr/>
          <p:nvPr/>
        </p:nvSpPr>
        <p:spPr>
          <a:xfrm>
            <a:off x="548640" y="1280160"/>
            <a:ext cx="3520440" cy="1691640"/>
          </a:xfrm>
          <a:prstGeom prst="roundRect">
            <a:avLst>
              <a:gd name="adj" fmla="val 6486"/>
            </a:avLst>
          </a:prstGeom>
          <a:solidFill>
            <a:schemeClr val="tx2"/>
          </a:solidFill>
          <a:ln w="12700">
            <a:solidFill>
              <a:schemeClr val="accent1"/>
            </a:solidFill>
            <a:prstDash val="solid"/>
          </a:ln>
        </p:spPr>
      </p:sp>
      <p:sp>
        <p:nvSpPr>
          <p:cNvPr id="4" name="text-177"/>
          <p:cNvSpPr txBox="1"/>
          <p:nvPr/>
        </p:nvSpPr>
        <p:spPr>
          <a:xfrm>
            <a:off x="777240" y="1389888"/>
            <a:ext cx="3108960" cy="347472"/>
          </a:xfrm>
          <a:prstGeom prst="rect">
            <a:avLst/>
          </a:prstGeom>
          <a:noFill/>
          <a:ln/>
        </p:spPr>
        <p:txBody>
          <a:bodyPr wrap="square" lIns="0" tIns="0" rIns="0" bIns="0" rtlCol="0" anchor="t"/>
          <a:lstStyle/>
          <a:p>
            <a:pPr indent="0" marL="0">
              <a:buNone/>
            </a:pPr>
            <a:r>
              <a:rPr lang="en-US" sz="1500" b="1" dirty="0">
                <a:solidFill>
                  <a:schemeClr val="accent1"/>
                </a:solidFill>
              </a:rPr>
              <a:t>Free</a:t>
            </a:r>
            <a:endParaRPr lang="en-US" sz="1500" dirty="0"/>
          </a:p>
        </p:txBody>
      </p:sp>
      <p:sp>
        <p:nvSpPr>
          <p:cNvPr id="5" name="text-178"/>
          <p:cNvSpPr txBox="1"/>
          <p:nvPr/>
        </p:nvSpPr>
        <p:spPr>
          <a:xfrm>
            <a:off x="777240" y="1737360"/>
            <a:ext cx="3108960" cy="457200"/>
          </a:xfrm>
          <a:prstGeom prst="rect">
            <a:avLst/>
          </a:prstGeom>
          <a:noFill/>
          <a:ln/>
        </p:spPr>
        <p:txBody>
          <a:bodyPr wrap="square" lIns="0" tIns="0" rIns="0" bIns="0" rtlCol="0" anchor="t"/>
          <a:lstStyle/>
          <a:p>
            <a:pPr indent="0" marL="0">
              <a:buNone/>
            </a:pPr>
            <a:r>
              <a:rPr lang="en-US" sz="2400" b="1" dirty="0">
                <a:solidFill>
                  <a:schemeClr val="bg1"/>
                </a:solidFill>
              </a:rPr>
              <a:t>US$0</a:t>
            </a:r>
            <a:endParaRPr lang="en-US" sz="2400" dirty="0"/>
          </a:p>
        </p:txBody>
      </p:sp>
      <p:sp>
        <p:nvSpPr>
          <p:cNvPr id="6" name="text-179"/>
          <p:cNvSpPr txBox="1"/>
          <p:nvPr/>
        </p:nvSpPr>
        <p:spPr>
          <a:xfrm>
            <a:off x="777240" y="2240280"/>
            <a:ext cx="3108960" cy="685800"/>
          </a:xfrm>
          <a:prstGeom prst="rect">
            <a:avLst/>
          </a:prstGeom>
          <a:noFill/>
          <a:ln/>
        </p:spPr>
        <p:txBody>
          <a:bodyPr wrap="square" lIns="0" tIns="0" rIns="0" bIns="0" rtlCol="0" anchor="t"/>
          <a:lstStyle/>
          <a:p>
            <a:pPr indent="0" marL="0">
              <a:buNone/>
            </a:pPr>
            <a:r>
              <a:rPr lang="en-US" sz="1300" dirty="0">
                <a:solidFill>
                  <a:schemeClr val="bg2"/>
                </a:solidFill>
              </a:rPr>
              <a:t>Records, credit book, dashboard, Money health and financing matching</a:t>
            </a:r>
            <a:endParaRPr lang="en-US" sz="1300" dirty="0"/>
          </a:p>
        </p:txBody>
      </p:sp>
      <p:sp>
        <p:nvSpPr>
          <p:cNvPr id="7" name="card-180"/>
          <p:cNvSpPr/>
          <p:nvPr/>
        </p:nvSpPr>
        <p:spPr>
          <a:xfrm>
            <a:off x="4297680" y="1280160"/>
            <a:ext cx="3520440" cy="1691640"/>
          </a:xfrm>
          <a:prstGeom prst="roundRect">
            <a:avLst>
              <a:gd name="adj" fmla="val 6486"/>
            </a:avLst>
          </a:prstGeom>
          <a:solidFill>
            <a:schemeClr val="tx2"/>
          </a:solidFill>
          <a:ln w="12700">
            <a:solidFill>
              <a:schemeClr val="accent2"/>
            </a:solidFill>
            <a:prstDash val="solid"/>
          </a:ln>
        </p:spPr>
      </p:sp>
      <p:sp>
        <p:nvSpPr>
          <p:cNvPr id="8" name="text-181"/>
          <p:cNvSpPr txBox="1"/>
          <p:nvPr/>
        </p:nvSpPr>
        <p:spPr>
          <a:xfrm>
            <a:off x="4526280" y="1389888"/>
            <a:ext cx="3108960" cy="347472"/>
          </a:xfrm>
          <a:prstGeom prst="rect">
            <a:avLst/>
          </a:prstGeom>
          <a:noFill/>
          <a:ln/>
        </p:spPr>
        <p:txBody>
          <a:bodyPr wrap="square" lIns="0" tIns="0" rIns="0" bIns="0" rtlCol="0" anchor="t"/>
          <a:lstStyle/>
          <a:p>
            <a:pPr indent="0" marL="0">
              <a:buNone/>
            </a:pPr>
            <a:r>
              <a:rPr lang="en-US" sz="1500" b="1" dirty="0">
                <a:solidFill>
                  <a:schemeClr val="accent2"/>
                </a:solidFill>
              </a:rPr>
              <a:t>Smart plan</a:t>
            </a:r>
            <a:endParaRPr lang="en-US" sz="1500" dirty="0"/>
          </a:p>
        </p:txBody>
      </p:sp>
      <p:sp>
        <p:nvSpPr>
          <p:cNvPr id="9" name="text-182"/>
          <p:cNvSpPr txBox="1"/>
          <p:nvPr/>
        </p:nvSpPr>
        <p:spPr>
          <a:xfrm>
            <a:off x="4526280" y="1737360"/>
            <a:ext cx="3108960" cy="457200"/>
          </a:xfrm>
          <a:prstGeom prst="rect">
            <a:avLst/>
          </a:prstGeom>
          <a:noFill/>
          <a:ln/>
        </p:spPr>
        <p:txBody>
          <a:bodyPr wrap="square" lIns="0" tIns="0" rIns="0" bIns="0" rtlCol="0" anchor="t"/>
          <a:lstStyle/>
          <a:p>
            <a:pPr indent="0" marL="0">
              <a:buNone/>
            </a:pPr>
            <a:r>
              <a:rPr lang="en-US" sz="2400" b="1" dirty="0">
                <a:solidFill>
                  <a:schemeClr val="bg1"/>
                </a:solidFill>
              </a:rPr>
              <a:t>US$2.99 / month</a:t>
            </a:r>
            <a:endParaRPr lang="en-US" sz="2400" dirty="0"/>
          </a:p>
        </p:txBody>
      </p:sp>
      <p:sp>
        <p:nvSpPr>
          <p:cNvPr id="10" name="text-183"/>
          <p:cNvSpPr txBox="1"/>
          <p:nvPr/>
        </p:nvSpPr>
        <p:spPr>
          <a:xfrm>
            <a:off x="4526280" y="2240280"/>
            <a:ext cx="3108960" cy="685800"/>
          </a:xfrm>
          <a:prstGeom prst="rect">
            <a:avLst/>
          </a:prstGeom>
          <a:noFill/>
          <a:ln/>
        </p:spPr>
        <p:txBody>
          <a:bodyPr wrap="square" lIns="0" tIns="0" rIns="0" bIns="0" rtlCol="0" anchor="t"/>
          <a:lstStyle/>
          <a:p>
            <a:pPr indent="0" marL="0">
              <a:buNone/>
            </a:pPr>
            <a:r>
              <a:rPr lang="en-US" sz="1300" dirty="0">
                <a:solidFill>
                  <a:schemeClr val="bg2"/>
                </a:solidFill>
              </a:rPr>
              <a:t>600 AI voice or camera sales a month, plus AI money advice</a:t>
            </a:r>
            <a:endParaRPr lang="en-US" sz="1300" dirty="0"/>
          </a:p>
        </p:txBody>
      </p:sp>
      <p:sp>
        <p:nvSpPr>
          <p:cNvPr id="11" name="card-184"/>
          <p:cNvSpPr/>
          <p:nvPr/>
        </p:nvSpPr>
        <p:spPr>
          <a:xfrm>
            <a:off x="8046720" y="1280160"/>
            <a:ext cx="3520440" cy="1691640"/>
          </a:xfrm>
          <a:prstGeom prst="roundRect">
            <a:avLst>
              <a:gd name="adj" fmla="val 6486"/>
            </a:avLst>
          </a:prstGeom>
          <a:solidFill>
            <a:schemeClr val="tx2"/>
          </a:solidFill>
          <a:ln w="12700">
            <a:solidFill>
              <a:schemeClr val="accent3"/>
            </a:solidFill>
            <a:prstDash val="solid"/>
          </a:ln>
        </p:spPr>
      </p:sp>
      <p:sp>
        <p:nvSpPr>
          <p:cNvPr id="12" name="text-185"/>
          <p:cNvSpPr txBox="1"/>
          <p:nvPr/>
        </p:nvSpPr>
        <p:spPr>
          <a:xfrm>
            <a:off x="8275320" y="1389888"/>
            <a:ext cx="3108960" cy="347472"/>
          </a:xfrm>
          <a:prstGeom prst="rect">
            <a:avLst/>
          </a:prstGeom>
          <a:noFill/>
          <a:ln/>
        </p:spPr>
        <p:txBody>
          <a:bodyPr wrap="square" lIns="0" tIns="0" rIns="0" bIns="0" rtlCol="0" anchor="t"/>
          <a:lstStyle/>
          <a:p>
            <a:pPr indent="0" marL="0">
              <a:buNone/>
            </a:pPr>
            <a:r>
              <a:rPr lang="en-US" sz="1500" b="1" dirty="0">
                <a:solidFill>
                  <a:schemeClr val="accent3"/>
                </a:solidFill>
              </a:rPr>
              <a:t>Financing fees</a:t>
            </a:r>
            <a:endParaRPr lang="en-US" sz="1500" dirty="0"/>
          </a:p>
        </p:txBody>
      </p:sp>
      <p:sp>
        <p:nvSpPr>
          <p:cNvPr id="13" name="text-186"/>
          <p:cNvSpPr txBox="1"/>
          <p:nvPr/>
        </p:nvSpPr>
        <p:spPr>
          <a:xfrm>
            <a:off x="8275320" y="1737360"/>
            <a:ext cx="3108960" cy="457200"/>
          </a:xfrm>
          <a:prstGeom prst="rect">
            <a:avLst/>
          </a:prstGeom>
          <a:noFill/>
          <a:ln/>
        </p:spPr>
        <p:txBody>
          <a:bodyPr wrap="square" lIns="0" tIns="0" rIns="0" bIns="0" rtlCol="0" anchor="t"/>
          <a:lstStyle/>
          <a:p>
            <a:pPr indent="0" marL="0">
              <a:buNone/>
            </a:pPr>
            <a:r>
              <a:rPr lang="en-US" sz="2400" b="1" dirty="0">
                <a:solidFill>
                  <a:schemeClr val="bg1"/>
                </a:solidFill>
              </a:rPr>
              <a:t>Year 2+</a:t>
            </a:r>
            <a:endParaRPr lang="en-US" sz="2400" dirty="0"/>
          </a:p>
        </p:txBody>
      </p:sp>
      <p:sp>
        <p:nvSpPr>
          <p:cNvPr id="14" name="text-187"/>
          <p:cNvSpPr txBox="1"/>
          <p:nvPr/>
        </p:nvSpPr>
        <p:spPr>
          <a:xfrm>
            <a:off x="8275320" y="2240280"/>
            <a:ext cx="3108960" cy="685800"/>
          </a:xfrm>
          <a:prstGeom prst="rect">
            <a:avLst/>
          </a:prstGeom>
          <a:noFill/>
          <a:ln/>
        </p:spPr>
        <p:txBody>
          <a:bodyPr wrap="square" lIns="0" tIns="0" rIns="0" bIns="0" rtlCol="0" anchor="t"/>
          <a:lstStyle/>
          <a:p>
            <a:pPr indent="0" marL="0">
              <a:buNone/>
            </a:pPr>
            <a:r>
              <a:rPr lang="en-US" sz="1300" dirty="0">
                <a:solidFill>
                  <a:schemeClr val="bg2"/>
                </a:solidFill>
              </a:rPr>
              <a:t>Lenders pay a fee when a matched shop takes a loan, with consent</a:t>
            </a:r>
            <a:endParaRPr lang="en-US" sz="1300" dirty="0"/>
          </a:p>
        </p:txBody>
      </p:sp>
      <p:graphicFrame>
        <p:nvGraphicFramePr>
          <p:cNvPr id="15" name="revenue-chart" descr=""/>
          <p:cNvGraphicFramePr/>
          <p:nvPr/>
        </p:nvGraphicFramePr>
        <p:xfrm>
          <a:off x="548640" y="3200400"/>
          <a:ext cx="6309360" cy="2971800"/>
        </p:xfrm>
        <a:graphic xmlns:a="http://schemas.openxmlformats.org/drawingml/2006/main">
          <a:graphicData uri="http://schemas.openxmlformats.org/drawingml/2006/chart">
            <c:chart xmlns:c="http://schemas.openxmlformats.org/drawingml/2006/chart" r:id="rId1"/>
          </a:graphicData>
        </a:graphic>
      </p:graphicFrame>
      <p:sp>
        <p:nvSpPr>
          <p:cNvPr id="16" name="card-188"/>
          <p:cNvSpPr/>
          <p:nvPr/>
        </p:nvSpPr>
        <p:spPr>
          <a:xfrm>
            <a:off x="7178040" y="3200400"/>
            <a:ext cx="4434840" cy="1371600"/>
          </a:xfrm>
          <a:prstGeom prst="roundRect">
            <a:avLst>
              <a:gd name="adj" fmla="val 8000"/>
            </a:avLst>
          </a:prstGeom>
          <a:solidFill>
            <a:schemeClr val="tx2"/>
          </a:solidFill>
          <a:ln w="12700">
            <a:solidFill>
              <a:schemeClr val="accent6"/>
            </a:solidFill>
            <a:prstDash val="solid"/>
          </a:ln>
        </p:spPr>
      </p:sp>
      <p:sp>
        <p:nvSpPr>
          <p:cNvPr id="17" name="text-189"/>
          <p:cNvSpPr txBox="1"/>
          <p:nvPr/>
        </p:nvSpPr>
        <p:spPr>
          <a:xfrm>
            <a:off x="7406640" y="3291840"/>
            <a:ext cx="2103120" cy="640080"/>
          </a:xfrm>
          <a:prstGeom prst="rect">
            <a:avLst/>
          </a:prstGeom>
          <a:noFill/>
          <a:ln/>
        </p:spPr>
        <p:txBody>
          <a:bodyPr wrap="square" lIns="0" tIns="0" rIns="0" bIns="0" rtlCol="0" anchor="t"/>
          <a:lstStyle/>
          <a:p>
            <a:pPr indent="0" marL="0">
              <a:buNone/>
            </a:pPr>
            <a:r>
              <a:rPr lang="en-US" sz="3400" b="1" dirty="0">
                <a:solidFill>
                  <a:schemeClr val="accent3"/>
                </a:solidFill>
              </a:rPr>
              <a:t>US$1.48</a:t>
            </a:r>
            <a:endParaRPr lang="en-US" sz="3400" dirty="0"/>
          </a:p>
        </p:txBody>
      </p:sp>
      <p:sp>
        <p:nvSpPr>
          <p:cNvPr id="18" name="text-190"/>
          <p:cNvSpPr txBox="1"/>
          <p:nvPr/>
        </p:nvSpPr>
        <p:spPr>
          <a:xfrm>
            <a:off x="9464040" y="3337560"/>
            <a:ext cx="2011680" cy="1143000"/>
          </a:xfrm>
          <a:prstGeom prst="rect">
            <a:avLst/>
          </a:prstGeom>
          <a:noFill/>
          <a:ln/>
        </p:spPr>
        <p:txBody>
          <a:bodyPr wrap="square" lIns="0" tIns="0" rIns="0" bIns="0" rtlCol="0" anchor="t"/>
          <a:lstStyle/>
          <a:p>
            <a:pPr indent="0" marL="0">
              <a:buNone/>
            </a:pPr>
            <a:r>
              <a:rPr lang="en-US" sz="1250" dirty="0">
                <a:solidFill>
                  <a:schemeClr val="bg2"/>
                </a:solidFill>
              </a:rPr>
              <a:t>profit per paying shop a month (59%), after AI, app-store fees and servers</a:t>
            </a:r>
            <a:endParaRPr lang="en-US" sz="1250" dirty="0"/>
          </a:p>
        </p:txBody>
      </p:sp>
      <p:sp>
        <p:nvSpPr>
          <p:cNvPr id="19" name="text-191"/>
          <p:cNvSpPr txBox="1"/>
          <p:nvPr/>
        </p:nvSpPr>
        <p:spPr>
          <a:xfrm>
            <a:off x="7406640" y="3977640"/>
            <a:ext cx="4114800" cy="548640"/>
          </a:xfrm>
          <a:prstGeom prst="rect">
            <a:avLst/>
          </a:prstGeom>
          <a:noFill/>
          <a:ln/>
        </p:spPr>
        <p:txBody>
          <a:bodyPr wrap="square" lIns="0" tIns="0" rIns="0" bIns="0" rtlCol="0" anchor="t"/>
          <a:lstStyle/>
          <a:p>
            <a:pPr indent="0" marL="0">
              <a:buNone/>
            </a:pPr>
            <a:r>
              <a:rPr lang="en-US" sz="1250" dirty="0">
                <a:solidFill>
                  <a:schemeClr val="bg1"/>
                </a:solidFill>
              </a:rPr>
              <a:t>Break-even at ~340 shops in year 1</a:t>
            </a:r>
            <a:endParaRPr lang="en-US" sz="1250" dirty="0"/>
          </a:p>
          <a:p>
            <a:pPr indent="0" marL="0">
              <a:buNone/>
            </a:pPr>
            <a:r>
              <a:rPr lang="en-US" sz="1250" dirty="0">
                <a:solidFill>
                  <a:schemeClr val="bg1"/>
                </a:solidFill>
              </a:rPr>
              <a:t>Monthly profit by the end of year 3</a:t>
            </a:r>
            <a:endParaRPr lang="en-US" sz="1250" dirty="0"/>
          </a:p>
        </p:txBody>
      </p:sp>
      <p:sp>
        <p:nvSpPr>
          <p:cNvPr id="20" name="card-192"/>
          <p:cNvSpPr/>
          <p:nvPr/>
        </p:nvSpPr>
        <p:spPr>
          <a:xfrm>
            <a:off x="7178040" y="4754880"/>
            <a:ext cx="4434840" cy="1417320"/>
          </a:xfrm>
          <a:prstGeom prst="roundRect">
            <a:avLst>
              <a:gd name="adj" fmla="val 7742"/>
            </a:avLst>
          </a:prstGeom>
          <a:solidFill>
            <a:schemeClr val="tx2"/>
          </a:solidFill>
          <a:ln w="12700">
            <a:solidFill>
              <a:schemeClr val="accent2"/>
            </a:solidFill>
            <a:prstDash val="solid"/>
          </a:ln>
        </p:spPr>
      </p:sp>
      <p:sp>
        <p:nvSpPr>
          <p:cNvPr id="21" name="text-193"/>
          <p:cNvSpPr txBox="1"/>
          <p:nvPr/>
        </p:nvSpPr>
        <p:spPr>
          <a:xfrm>
            <a:off x="7406640" y="4864608"/>
            <a:ext cx="4023360" cy="411480"/>
          </a:xfrm>
          <a:prstGeom prst="rect">
            <a:avLst/>
          </a:prstGeom>
          <a:noFill/>
          <a:ln/>
        </p:spPr>
        <p:txBody>
          <a:bodyPr wrap="square" lIns="0" tIns="0" rIns="0" bIns="0" rtlCol="0" anchor="t"/>
          <a:lstStyle/>
          <a:p>
            <a:pPr indent="0" marL="0">
              <a:buNone/>
            </a:pPr>
            <a:r>
              <a:rPr lang="en-US" sz="2100" b="1" dirty="0">
                <a:solidFill>
                  <a:schemeClr val="bg1"/>
                </a:solidFill>
              </a:rPr>
              <a:t>Raising US$100k pre-seed</a:t>
            </a:r>
            <a:endParaRPr lang="en-US" sz="2100" dirty="0"/>
          </a:p>
        </p:txBody>
      </p:sp>
      <p:sp>
        <p:nvSpPr>
          <p:cNvPr id="22" name="text-194"/>
          <p:cNvSpPr txBox="1"/>
          <p:nvPr/>
        </p:nvSpPr>
        <p:spPr>
          <a:xfrm>
            <a:off x="7406640" y="5285232"/>
            <a:ext cx="4069080" cy="822960"/>
          </a:xfrm>
          <a:prstGeom prst="rect">
            <a:avLst/>
          </a:prstGeom>
          <a:noFill/>
          <a:ln/>
        </p:spPr>
        <p:txBody>
          <a:bodyPr wrap="square" lIns="0" tIns="0" rIns="0" bIns="0" rtlCol="0" anchor="t"/>
          <a:lstStyle/>
          <a:p>
            <a:pPr indent="0" marL="0">
              <a:buNone/>
            </a:pPr>
            <a:r>
              <a:rPr lang="en-US" sz="1250" dirty="0">
                <a:solidFill>
                  <a:schemeClr val="bg2"/>
                </a:solidFill>
              </a:rPr>
              <a:t>Launch in Bangladesh, open the Philippines and Kenya, cut AI cost, add offline selling. Plus introductions to lenders and distributors.</a:t>
            </a:r>
            <a:endParaRPr lang="en-US" sz="125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What's next</a:t>
            </a:r>
            <a:endParaRPr lang="en-US" sz="3200" dirty="0"/>
          </a:p>
        </p:txBody>
      </p:sp>
      <p:sp>
        <p:nvSpPr>
          <p:cNvPr id="3" name="roadmap-line"/>
          <p:cNvSpPr/>
          <p:nvPr/>
        </p:nvSpPr>
        <p:spPr>
          <a:xfrm>
            <a:off x="1097280" y="1783080"/>
            <a:ext cx="9966960" cy="0"/>
          </a:xfrm>
          <a:prstGeom prst="line">
            <a:avLst/>
          </a:prstGeom>
          <a:noFill/>
          <a:ln w="25400">
            <a:solidFill>
              <a:srgbClr val="2A3570"/>
            </a:solidFill>
            <a:prstDash val="solid"/>
          </a:ln>
        </p:spPr>
      </p:sp>
      <p:sp>
        <p:nvSpPr>
          <p:cNvPr id="4" name="icon-bg-195"/>
          <p:cNvSpPr/>
          <p:nvPr/>
        </p:nvSpPr>
        <p:spPr>
          <a:xfrm>
            <a:off x="1097280" y="1417320"/>
            <a:ext cx="731520" cy="731520"/>
          </a:xfrm>
          <a:prstGeom prst="ellipse">
            <a:avLst/>
          </a:prstGeom>
          <a:solidFill>
            <a:schemeClr val="accent1"/>
          </a:solidFill>
          <a:ln w="12700">
            <a:solidFill>
              <a:schemeClr val="accent1"/>
            </a:solidFill>
            <a:prstDash val="solid"/>
          </a:ln>
        </p:spPr>
      </p:sp>
      <p:pic>
        <p:nvPicPr>
          <p:cNvPr id="5" name="icon-196" descr="preencoded.png">    </p:cNvPr>
          <p:cNvPicPr>
            <a:picLocks noChangeAspect="1"/>
          </p:cNvPicPr>
          <p:nvPr/>
        </p:nvPicPr>
        <p:blipFill>
          <a:blip r:embed="rId1"/>
          <a:stretch>
            <a:fillRect/>
          </a:stretch>
        </p:blipFill>
        <p:spPr>
          <a:xfrm>
            <a:off x="1258214" y="1578254"/>
            <a:ext cx="409651" cy="409651"/>
          </a:xfrm>
          <a:prstGeom prst="rect">
            <a:avLst/>
          </a:prstGeom>
        </p:spPr>
      </p:pic>
      <p:sp>
        <p:nvSpPr>
          <p:cNvPr id="6" name="text-197"/>
          <p:cNvSpPr txBox="1"/>
          <p:nvPr/>
        </p:nvSpPr>
        <p:spPr>
          <a:xfrm>
            <a:off x="548640" y="2331720"/>
            <a:ext cx="2011680" cy="384048"/>
          </a:xfrm>
          <a:prstGeom prst="rect">
            <a:avLst/>
          </a:prstGeom>
          <a:noFill/>
          <a:ln/>
        </p:spPr>
        <p:txBody>
          <a:bodyPr wrap="square" lIns="0" tIns="0" rIns="0" bIns="0" rtlCol="0" anchor="t"/>
          <a:lstStyle/>
          <a:p>
            <a:pPr algn="ctr" indent="0" marL="0">
              <a:buNone/>
            </a:pPr>
            <a:r>
              <a:rPr lang="en-US" sz="1700" b="1" dirty="0">
                <a:solidFill>
                  <a:schemeClr val="bg1"/>
                </a:solidFill>
              </a:rPr>
              <a:t>Ask EasySell</a:t>
            </a:r>
            <a:endParaRPr lang="en-US" sz="1700" dirty="0"/>
          </a:p>
        </p:txBody>
      </p:sp>
      <p:sp>
        <p:nvSpPr>
          <p:cNvPr id="7" name="text-198"/>
          <p:cNvSpPr txBox="1"/>
          <p:nvPr/>
        </p:nvSpPr>
        <p:spPr>
          <a:xfrm>
            <a:off x="548640" y="2743200"/>
            <a:ext cx="2011680" cy="640080"/>
          </a:xfrm>
          <a:prstGeom prst="rect">
            <a:avLst/>
          </a:prstGeom>
          <a:noFill/>
          <a:ln/>
        </p:spPr>
        <p:txBody>
          <a:bodyPr wrap="square" lIns="0" tIns="0" rIns="0" bIns="0" rtlCol="0" anchor="t"/>
          <a:lstStyle/>
          <a:p>
            <a:pPr algn="ctr" indent="0" marL="0">
              <a:buNone/>
            </a:pPr>
            <a:r>
              <a:rPr lang="en-US" sz="1300" dirty="0">
                <a:solidFill>
                  <a:schemeClr val="bg2"/>
                </a:solidFill>
              </a:rPr>
              <a:t>Money questions in your own language</a:t>
            </a:r>
            <a:endParaRPr lang="en-US" sz="1300" dirty="0"/>
          </a:p>
        </p:txBody>
      </p:sp>
      <p:sp>
        <p:nvSpPr>
          <p:cNvPr id="8" name="icon-bg-199"/>
          <p:cNvSpPr/>
          <p:nvPr/>
        </p:nvSpPr>
        <p:spPr>
          <a:xfrm>
            <a:off x="3337560" y="1417320"/>
            <a:ext cx="731520" cy="731520"/>
          </a:xfrm>
          <a:prstGeom prst="ellipse">
            <a:avLst/>
          </a:prstGeom>
          <a:solidFill>
            <a:schemeClr val="accent3"/>
          </a:solidFill>
          <a:ln w="12700">
            <a:solidFill>
              <a:schemeClr val="accent3"/>
            </a:solidFill>
            <a:prstDash val="solid"/>
          </a:ln>
        </p:spPr>
      </p:sp>
      <p:pic>
        <p:nvPicPr>
          <p:cNvPr id="9" name="icon-200" descr="preencoded.png">    </p:cNvPr>
          <p:cNvPicPr>
            <a:picLocks noChangeAspect="1"/>
          </p:cNvPicPr>
          <p:nvPr/>
        </p:nvPicPr>
        <p:blipFill>
          <a:blip r:embed="rId2"/>
          <a:stretch>
            <a:fillRect/>
          </a:stretch>
        </p:blipFill>
        <p:spPr>
          <a:xfrm>
            <a:off x="3498494" y="1578254"/>
            <a:ext cx="409651" cy="409651"/>
          </a:xfrm>
          <a:prstGeom prst="rect">
            <a:avLst/>
          </a:prstGeom>
        </p:spPr>
      </p:pic>
      <p:sp>
        <p:nvSpPr>
          <p:cNvPr id="10" name="text-201"/>
          <p:cNvSpPr txBox="1"/>
          <p:nvPr/>
        </p:nvSpPr>
        <p:spPr>
          <a:xfrm>
            <a:off x="2788920" y="2331720"/>
            <a:ext cx="2011680" cy="384048"/>
          </a:xfrm>
          <a:prstGeom prst="rect">
            <a:avLst/>
          </a:prstGeom>
          <a:noFill/>
          <a:ln/>
        </p:spPr>
        <p:txBody>
          <a:bodyPr wrap="square" lIns="0" tIns="0" rIns="0" bIns="0" rtlCol="0" anchor="t"/>
          <a:lstStyle/>
          <a:p>
            <a:pPr algn="ctr" indent="0" marL="0">
              <a:buNone/>
            </a:pPr>
            <a:r>
              <a:rPr lang="en-US" sz="1700" b="1" dirty="0">
                <a:solidFill>
                  <a:schemeClr val="bg1"/>
                </a:solidFill>
              </a:rPr>
              <a:t>Lender partners</a:t>
            </a:r>
            <a:endParaRPr lang="en-US" sz="1700" dirty="0"/>
          </a:p>
        </p:txBody>
      </p:sp>
      <p:sp>
        <p:nvSpPr>
          <p:cNvPr id="11" name="text-202"/>
          <p:cNvSpPr txBox="1"/>
          <p:nvPr/>
        </p:nvSpPr>
        <p:spPr>
          <a:xfrm>
            <a:off x="2788920" y="2743200"/>
            <a:ext cx="2011680" cy="640080"/>
          </a:xfrm>
          <a:prstGeom prst="rect">
            <a:avLst/>
          </a:prstGeom>
          <a:noFill/>
          <a:ln/>
        </p:spPr>
        <p:txBody>
          <a:bodyPr wrap="square" lIns="0" tIns="0" rIns="0" bIns="0" rtlCol="0" anchor="t"/>
          <a:lstStyle/>
          <a:p>
            <a:pPr algn="ctr" indent="0" marL="0">
              <a:buNone/>
            </a:pPr>
            <a:r>
              <a:rPr lang="en-US" sz="1300" dirty="0">
                <a:solidFill>
                  <a:schemeClr val="bg2"/>
                </a:solidFill>
              </a:rPr>
              <a:t>Turn matches into real applications</a:t>
            </a:r>
            <a:endParaRPr lang="en-US" sz="1300" dirty="0"/>
          </a:p>
        </p:txBody>
      </p:sp>
      <p:sp>
        <p:nvSpPr>
          <p:cNvPr id="12" name="icon-bg-203"/>
          <p:cNvSpPr/>
          <p:nvPr/>
        </p:nvSpPr>
        <p:spPr>
          <a:xfrm>
            <a:off x="5577840" y="1417320"/>
            <a:ext cx="731520" cy="731520"/>
          </a:xfrm>
          <a:prstGeom prst="ellipse">
            <a:avLst/>
          </a:prstGeom>
          <a:solidFill>
            <a:schemeClr val="accent1"/>
          </a:solidFill>
          <a:ln w="12700">
            <a:solidFill>
              <a:schemeClr val="accent1"/>
            </a:solidFill>
            <a:prstDash val="solid"/>
          </a:ln>
        </p:spPr>
      </p:sp>
      <p:pic>
        <p:nvPicPr>
          <p:cNvPr id="13" name="icon-204" descr="preencoded.png">    </p:cNvPr>
          <p:cNvPicPr>
            <a:picLocks noChangeAspect="1"/>
          </p:cNvPicPr>
          <p:nvPr/>
        </p:nvPicPr>
        <p:blipFill>
          <a:blip r:embed="rId3"/>
          <a:stretch>
            <a:fillRect/>
          </a:stretch>
        </p:blipFill>
        <p:spPr>
          <a:xfrm>
            <a:off x="5738774" y="1578254"/>
            <a:ext cx="409651" cy="409651"/>
          </a:xfrm>
          <a:prstGeom prst="rect">
            <a:avLst/>
          </a:prstGeom>
        </p:spPr>
      </p:pic>
      <p:sp>
        <p:nvSpPr>
          <p:cNvPr id="14" name="text-205"/>
          <p:cNvSpPr txBox="1"/>
          <p:nvPr/>
        </p:nvSpPr>
        <p:spPr>
          <a:xfrm>
            <a:off x="5029200" y="2331720"/>
            <a:ext cx="2011680" cy="384048"/>
          </a:xfrm>
          <a:prstGeom prst="rect">
            <a:avLst/>
          </a:prstGeom>
          <a:noFill/>
          <a:ln/>
        </p:spPr>
        <p:txBody>
          <a:bodyPr wrap="square" lIns="0" tIns="0" rIns="0" bIns="0" rtlCol="0" anchor="t"/>
          <a:lstStyle/>
          <a:p>
            <a:pPr algn="ctr" indent="0" marL="0">
              <a:buNone/>
            </a:pPr>
            <a:r>
              <a:rPr lang="en-US" sz="1700" b="1" dirty="0">
                <a:solidFill>
                  <a:schemeClr val="bg1"/>
                </a:solidFill>
              </a:rPr>
              <a:t>Credit profile</a:t>
            </a:r>
            <a:endParaRPr lang="en-US" sz="1700" dirty="0"/>
          </a:p>
        </p:txBody>
      </p:sp>
      <p:sp>
        <p:nvSpPr>
          <p:cNvPr id="15" name="text-206"/>
          <p:cNvSpPr txBox="1"/>
          <p:nvPr/>
        </p:nvSpPr>
        <p:spPr>
          <a:xfrm>
            <a:off x="5029200" y="2743200"/>
            <a:ext cx="2011680" cy="640080"/>
          </a:xfrm>
          <a:prstGeom prst="rect">
            <a:avLst/>
          </a:prstGeom>
          <a:noFill/>
          <a:ln/>
        </p:spPr>
        <p:txBody>
          <a:bodyPr wrap="square" lIns="0" tIns="0" rIns="0" bIns="0" rtlCol="0" anchor="t"/>
          <a:lstStyle/>
          <a:p>
            <a:pPr algn="ctr" indent="0" marL="0">
              <a:buNone/>
            </a:pPr>
            <a:r>
              <a:rPr lang="en-US" sz="1300" dirty="0">
                <a:solidFill>
                  <a:schemeClr val="bg2"/>
                </a:solidFill>
              </a:rPr>
              <a:t>A shareable sales and repayment record</a:t>
            </a:r>
            <a:endParaRPr lang="en-US" sz="1300" dirty="0"/>
          </a:p>
        </p:txBody>
      </p:sp>
      <p:sp>
        <p:nvSpPr>
          <p:cNvPr id="16" name="icon-bg-207"/>
          <p:cNvSpPr/>
          <p:nvPr/>
        </p:nvSpPr>
        <p:spPr>
          <a:xfrm>
            <a:off x="7818120" y="1417320"/>
            <a:ext cx="731520" cy="731520"/>
          </a:xfrm>
          <a:prstGeom prst="ellipse">
            <a:avLst/>
          </a:prstGeom>
          <a:solidFill>
            <a:schemeClr val="accent1"/>
          </a:solidFill>
          <a:ln w="12700">
            <a:solidFill>
              <a:schemeClr val="accent1"/>
            </a:solidFill>
            <a:prstDash val="solid"/>
          </a:ln>
        </p:spPr>
      </p:sp>
      <p:pic>
        <p:nvPicPr>
          <p:cNvPr id="17" name="icon-208" descr="preencoded.png">    </p:cNvPr>
          <p:cNvPicPr>
            <a:picLocks noChangeAspect="1"/>
          </p:cNvPicPr>
          <p:nvPr/>
        </p:nvPicPr>
        <p:blipFill>
          <a:blip r:embed="rId4"/>
          <a:stretch>
            <a:fillRect/>
          </a:stretch>
        </p:blipFill>
        <p:spPr>
          <a:xfrm>
            <a:off x="7979054" y="1578254"/>
            <a:ext cx="409651" cy="409651"/>
          </a:xfrm>
          <a:prstGeom prst="rect">
            <a:avLst/>
          </a:prstGeom>
        </p:spPr>
      </p:pic>
      <p:sp>
        <p:nvSpPr>
          <p:cNvPr id="18" name="text-209"/>
          <p:cNvSpPr txBox="1"/>
          <p:nvPr/>
        </p:nvSpPr>
        <p:spPr>
          <a:xfrm>
            <a:off x="7269480" y="2331720"/>
            <a:ext cx="2011680" cy="384048"/>
          </a:xfrm>
          <a:prstGeom prst="rect">
            <a:avLst/>
          </a:prstGeom>
          <a:noFill/>
          <a:ln/>
        </p:spPr>
        <p:txBody>
          <a:bodyPr wrap="square" lIns="0" tIns="0" rIns="0" bIns="0" rtlCol="0" anchor="t"/>
          <a:lstStyle/>
          <a:p>
            <a:pPr algn="ctr" indent="0" marL="0">
              <a:buNone/>
            </a:pPr>
            <a:r>
              <a:rPr lang="en-US" sz="1700" b="1" dirty="0">
                <a:solidFill>
                  <a:schemeClr val="bg1"/>
                </a:solidFill>
              </a:rPr>
              <a:t>Offline selling</a:t>
            </a:r>
            <a:endParaRPr lang="en-US" sz="1700" dirty="0"/>
          </a:p>
        </p:txBody>
      </p:sp>
      <p:sp>
        <p:nvSpPr>
          <p:cNvPr id="19" name="text-210"/>
          <p:cNvSpPr txBox="1"/>
          <p:nvPr/>
        </p:nvSpPr>
        <p:spPr>
          <a:xfrm>
            <a:off x="7269480" y="2743200"/>
            <a:ext cx="2011680" cy="640080"/>
          </a:xfrm>
          <a:prstGeom prst="rect">
            <a:avLst/>
          </a:prstGeom>
          <a:noFill/>
          <a:ln/>
        </p:spPr>
        <p:txBody>
          <a:bodyPr wrap="square" lIns="0" tIns="0" rIns="0" bIns="0" rtlCol="0" anchor="t"/>
          <a:lstStyle/>
          <a:p>
            <a:pPr algn="ctr" indent="0" marL="0">
              <a:buNone/>
            </a:pPr>
            <a:r>
              <a:rPr lang="en-US" sz="1300" dirty="0">
                <a:solidFill>
                  <a:schemeClr val="bg2"/>
                </a:solidFill>
              </a:rPr>
              <a:t>Sell without internet, sync later</a:t>
            </a:r>
            <a:endParaRPr lang="en-US" sz="1300" dirty="0"/>
          </a:p>
        </p:txBody>
      </p:sp>
      <p:sp>
        <p:nvSpPr>
          <p:cNvPr id="20" name="icon-bg-211"/>
          <p:cNvSpPr/>
          <p:nvPr/>
        </p:nvSpPr>
        <p:spPr>
          <a:xfrm>
            <a:off x="10058400" y="1417320"/>
            <a:ext cx="731520" cy="731520"/>
          </a:xfrm>
          <a:prstGeom prst="ellipse">
            <a:avLst/>
          </a:prstGeom>
          <a:solidFill>
            <a:schemeClr val="accent1"/>
          </a:solidFill>
          <a:ln w="12700">
            <a:solidFill>
              <a:schemeClr val="accent1"/>
            </a:solidFill>
            <a:prstDash val="solid"/>
          </a:ln>
        </p:spPr>
      </p:sp>
      <p:pic>
        <p:nvPicPr>
          <p:cNvPr id="21" name="icon-212" descr="preencoded.png">    </p:cNvPr>
          <p:cNvPicPr>
            <a:picLocks noChangeAspect="1"/>
          </p:cNvPicPr>
          <p:nvPr/>
        </p:nvPicPr>
        <p:blipFill>
          <a:blip r:embed="rId5"/>
          <a:stretch>
            <a:fillRect/>
          </a:stretch>
        </p:blipFill>
        <p:spPr>
          <a:xfrm>
            <a:off x="10219334" y="1578254"/>
            <a:ext cx="409651" cy="409651"/>
          </a:xfrm>
          <a:prstGeom prst="rect">
            <a:avLst/>
          </a:prstGeom>
        </p:spPr>
      </p:pic>
      <p:sp>
        <p:nvSpPr>
          <p:cNvPr id="22" name="text-213"/>
          <p:cNvSpPr txBox="1"/>
          <p:nvPr/>
        </p:nvSpPr>
        <p:spPr>
          <a:xfrm>
            <a:off x="9509760" y="2331720"/>
            <a:ext cx="2011680" cy="384048"/>
          </a:xfrm>
          <a:prstGeom prst="rect">
            <a:avLst/>
          </a:prstGeom>
          <a:noFill/>
          <a:ln/>
        </p:spPr>
        <p:txBody>
          <a:bodyPr wrap="square" lIns="0" tIns="0" rIns="0" bIns="0" rtlCol="0" anchor="t"/>
          <a:lstStyle/>
          <a:p>
            <a:pPr algn="ctr" indent="0" marL="0">
              <a:buNone/>
            </a:pPr>
            <a:r>
              <a:rPr lang="en-US" sz="1700" b="1" dirty="0">
                <a:solidFill>
                  <a:schemeClr val="bg1"/>
                </a:solidFill>
              </a:rPr>
              <a:t>New markets</a:t>
            </a:r>
            <a:endParaRPr lang="en-US" sz="1700" dirty="0"/>
          </a:p>
        </p:txBody>
      </p:sp>
      <p:sp>
        <p:nvSpPr>
          <p:cNvPr id="23" name="text-214"/>
          <p:cNvSpPr txBox="1"/>
          <p:nvPr/>
        </p:nvSpPr>
        <p:spPr>
          <a:xfrm>
            <a:off x="9509760" y="2743200"/>
            <a:ext cx="2011680" cy="640080"/>
          </a:xfrm>
          <a:prstGeom prst="rect">
            <a:avLst/>
          </a:prstGeom>
          <a:noFill/>
          <a:ln/>
        </p:spPr>
        <p:txBody>
          <a:bodyPr wrap="square" lIns="0" tIns="0" rIns="0" bIns="0" rtlCol="0" anchor="t"/>
          <a:lstStyle/>
          <a:p>
            <a:pPr algn="ctr" indent="0" marL="0">
              <a:buNone/>
            </a:pPr>
            <a:r>
              <a:rPr lang="en-US" sz="1300" dirty="0">
                <a:solidFill>
                  <a:schemeClr val="bg2"/>
                </a:solidFill>
              </a:rPr>
              <a:t>New languages and currencies</a:t>
            </a:r>
            <a:endParaRPr lang="en-US" sz="1300" dirty="0"/>
          </a:p>
        </p:txBody>
      </p:sp>
      <p:sp>
        <p:nvSpPr>
          <p:cNvPr id="24" name="card-215"/>
          <p:cNvSpPr/>
          <p:nvPr/>
        </p:nvSpPr>
        <p:spPr>
          <a:xfrm>
            <a:off x="548640" y="3886200"/>
            <a:ext cx="11064240" cy="2240280"/>
          </a:xfrm>
          <a:prstGeom prst="roundRect">
            <a:avLst>
              <a:gd name="adj" fmla="val 4898"/>
            </a:avLst>
          </a:prstGeom>
          <a:solidFill>
            <a:schemeClr val="tx2"/>
          </a:solidFill>
          <a:ln w="12700">
            <a:solidFill>
              <a:schemeClr val="accent2"/>
            </a:solidFill>
            <a:prstDash val="solid"/>
          </a:ln>
        </p:spPr>
      </p:sp>
      <p:sp>
        <p:nvSpPr>
          <p:cNvPr id="25" name="text-216"/>
          <p:cNvSpPr txBox="1"/>
          <p:nvPr/>
        </p:nvSpPr>
        <p:spPr>
          <a:xfrm>
            <a:off x="868680" y="4114800"/>
            <a:ext cx="5669280" cy="822960"/>
          </a:xfrm>
          <a:prstGeom prst="rect">
            <a:avLst/>
          </a:prstGeom>
          <a:noFill/>
          <a:ln/>
        </p:spPr>
        <p:txBody>
          <a:bodyPr wrap="square" lIns="0" tIns="0" rIns="0" bIns="0" rtlCol="0" anchor="t"/>
          <a:lstStyle/>
          <a:p>
            <a:pPr indent="0" marL="0">
              <a:buNone/>
            </a:pPr>
            <a:r>
              <a:rPr lang="en-US" sz="4400" b="1" dirty="0">
                <a:solidFill>
                  <a:schemeClr val="bg1"/>
                </a:solidFill>
              </a:rPr>
              <a:t>Thank you</a:t>
            </a:r>
            <a:endParaRPr lang="en-US" sz="4400" dirty="0"/>
          </a:p>
        </p:txBody>
      </p:sp>
      <p:sp>
        <p:nvSpPr>
          <p:cNvPr id="26" name="text-217"/>
          <p:cNvSpPr txBox="1"/>
          <p:nvPr/>
        </p:nvSpPr>
        <p:spPr>
          <a:xfrm>
            <a:off x="868680" y="4983480"/>
            <a:ext cx="5669280" cy="731520"/>
          </a:xfrm>
          <a:prstGeom prst="rect">
            <a:avLst/>
          </a:prstGeom>
          <a:noFill/>
          <a:ln/>
        </p:spPr>
        <p:txBody>
          <a:bodyPr wrap="square" lIns="0" tIns="0" rIns="0" bIns="0" rtlCol="0" anchor="t"/>
          <a:lstStyle/>
          <a:p>
            <a:pPr indent="0" marL="0">
              <a:buNone/>
            </a:pPr>
            <a:r>
              <a:rPr lang="en-US" sz="1700" dirty="0">
                <a:solidFill>
                  <a:schemeClr val="bg2"/>
                </a:solidFill>
              </a:rPr>
              <a:t>EasySell: speak the sale, see the money, get ready for finance.</a:t>
            </a:r>
            <a:endParaRPr lang="en-US" sz="1700" dirty="0"/>
          </a:p>
        </p:txBody>
      </p:sp>
      <p:sp>
        <p:nvSpPr>
          <p:cNvPr id="27" name="text-218"/>
          <p:cNvSpPr txBox="1"/>
          <p:nvPr/>
        </p:nvSpPr>
        <p:spPr>
          <a:xfrm>
            <a:off x="6949440" y="4206240"/>
            <a:ext cx="4389120" cy="411480"/>
          </a:xfrm>
          <a:prstGeom prst="rect">
            <a:avLst/>
          </a:prstGeom>
          <a:noFill/>
          <a:ln/>
        </p:spPr>
        <p:txBody>
          <a:bodyPr wrap="square" lIns="0" tIns="0" rIns="0" bIns="0" rtlCol="0" anchor="t"/>
          <a:lstStyle/>
          <a:p>
            <a:pPr indent="0" marL="0">
              <a:buNone/>
            </a:pPr>
            <a:r>
              <a:rPr lang="en-US" sz="1800" b="1" dirty="0">
                <a:solidFill>
                  <a:schemeClr val="accent1"/>
                </a:solidFill>
              </a:rPr>
              <a:t>[Team name]</a:t>
            </a:r>
            <a:endParaRPr lang="en-US" sz="1800" dirty="0"/>
          </a:p>
        </p:txBody>
      </p:sp>
      <p:sp>
        <p:nvSpPr>
          <p:cNvPr id="28" name="text-219"/>
          <p:cNvSpPr txBox="1"/>
          <p:nvPr/>
        </p:nvSpPr>
        <p:spPr>
          <a:xfrm>
            <a:off x="6949440" y="4663440"/>
            <a:ext cx="4389120" cy="1188720"/>
          </a:xfrm>
          <a:prstGeom prst="rect">
            <a:avLst/>
          </a:prstGeom>
          <a:noFill/>
          <a:ln/>
        </p:spPr>
        <p:txBody>
          <a:bodyPr wrap="square" lIns="0" tIns="0" rIns="0" bIns="0" rtlCol="0" anchor="t"/>
          <a:lstStyle/>
          <a:p>
            <a:pPr indent="0" marL="0">
              <a:buNone/>
            </a:pPr>
            <a:r>
              <a:rPr lang="en-US" sz="1500" dirty="0">
                <a:solidFill>
                  <a:schemeClr val="bg2"/>
                </a:solidFill>
              </a:rPr>
              <a:t>[Member names and roles]</a:t>
            </a:r>
            <a:endParaRPr lang="en-US" sz="15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EasySell">
  <a:themeElements>
    <a:clrScheme name="EasySell">
      <a:dk1>
        <a:srgbClr val="0B1230"/>
      </a:dk1>
      <a:lt1>
        <a:srgbClr val="FFFFFF"/>
      </a:lt1>
      <a:dk2>
        <a:srgbClr val="141C42"/>
      </a:dk2>
      <a:lt2>
        <a:srgbClr val="B4BEDF"/>
      </a:lt2>
      <a:accent1>
        <a:srgbClr val="4F8BFF"/>
      </a:accent1>
      <a:accent2>
        <a:srgbClr val="8B5CF6"/>
      </a:accent2>
      <a:accent3>
        <a:srgbClr val="34D399"/>
      </a:accent3>
      <a:accent4>
        <a:srgbClr val="FBBF24"/>
      </a:accent4>
      <a:accent5>
        <a:srgbClr val="F87171"/>
      </a:accent5>
      <a:accent6>
        <a:srgbClr val="2A3570"/>
      </a:accent6>
      <a:hlink>
        <a:srgbClr val="4F8BFF"/>
      </a:hlink>
      <a:folHlink>
        <a:srgbClr val="8B5CF6"/>
      </a:folHlink>
    </a:clrScheme>
    <a:fontScheme name="EasySel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EasySell — AI Finance Copilot</dc:title>
  <dc:subject>PptxGenJS Presentation</dc:subject>
  <dc:creator>PptxGenJS</dc:creator>
  <cp:lastModifiedBy>PptxGenJS</cp:lastModifiedBy>
  <cp:revision>1</cp:revision>
  <dcterms:created xsi:type="dcterms:W3CDTF">2026-10-18T11:19:40Z</dcterms:created>
  <dcterms:modified xsi:type="dcterms:W3CDTF">2026-10-18T11:19:41Z</dcterms:modified>
</cp:coreProperties>
</file>